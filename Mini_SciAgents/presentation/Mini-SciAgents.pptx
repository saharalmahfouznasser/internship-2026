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DM Sans"/>
      <p:regular r:id="rId18"/>
      <p:bold r:id="rId19"/>
      <p:italic r:id="rId20"/>
      <p:boldItalic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italic.fntdata"/><Relationship Id="rId22" Type="http://schemas.openxmlformats.org/officeDocument/2006/relationships/font" Target="fonts/Merriweather-regular.fntdata"/><Relationship Id="rId21" Type="http://schemas.openxmlformats.org/officeDocument/2006/relationships/font" Target="fonts/DMSans-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DMSans-bold.fntdata"/><Relationship Id="rId18" Type="http://schemas.openxmlformats.org/officeDocument/2006/relationships/font" Target="fonts/DM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5614f6c2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slide compares the two SciAgents architectures described in the paper.</a:t>
            </a:r>
            <a:endParaRPr/>
          </a:p>
          <a:p>
            <a:pPr indent="0" lvl="0" marL="0" rtl="0" algn="l">
              <a:lnSpc>
                <a:spcPct val="115000"/>
              </a:lnSpc>
              <a:spcBef>
                <a:spcPts val="1200"/>
              </a:spcBef>
              <a:spcAft>
                <a:spcPts val="0"/>
              </a:spcAft>
              <a:buClr>
                <a:schemeClr val="dk1"/>
              </a:buClr>
              <a:buSzPts val="1100"/>
              <a:buFont typeface="Arial"/>
              <a:buNone/>
            </a:pPr>
            <a:r>
              <a:rPr lang="en-US"/>
              <a:t>Section 2.1 uses a structured multi-agent pipeline, where each agent performs a predefined role in a fixed sequence, such as hypothesis generation, expansion, and critique. This approach is reliable and easier to control because the workflow is explicitly programmed.</a:t>
            </a:r>
            <a:endParaRPr/>
          </a:p>
          <a:p>
            <a:pPr indent="0" lvl="0" marL="0" rtl="0" algn="l">
              <a:lnSpc>
                <a:spcPct val="115000"/>
              </a:lnSpc>
              <a:spcBef>
                <a:spcPts val="1200"/>
              </a:spcBef>
              <a:spcAft>
                <a:spcPts val="0"/>
              </a:spcAft>
              <a:buClr>
                <a:schemeClr val="dk1"/>
              </a:buClr>
              <a:buSzPts val="1100"/>
              <a:buFont typeface="Arial"/>
              <a:buNone/>
            </a:pPr>
            <a:r>
              <a:rPr lang="en-US"/>
              <a:t>Section 2.2 extends this idea into an autonomous agentic system. Instead of a fixed pipeline, agents dynamically coordinate through a manager agent, share memory, and decide which agent or tool should act next. This creates a more flexible and self-organizing research workflow.</a:t>
            </a:r>
            <a:endParaRPr/>
          </a:p>
          <a:p>
            <a:pPr indent="0" lvl="0" marL="0" rtl="0" algn="l">
              <a:lnSpc>
                <a:spcPct val="115000"/>
              </a:lnSpc>
              <a:spcBef>
                <a:spcPts val="1200"/>
              </a:spcBef>
              <a:spcAft>
                <a:spcPts val="0"/>
              </a:spcAft>
              <a:buClr>
                <a:schemeClr val="dk1"/>
              </a:buClr>
              <a:buSzPts val="1100"/>
              <a:buFont typeface="Arial"/>
              <a:buNone/>
            </a:pPr>
            <a:r>
              <a:rPr lang="en-US"/>
              <a:t>My implementation follows Section 2.1 much more closely. I implemented a sequential multi-agent pipeline using a scientific knowledge grap. The system contains three specialized agents: a hypothesis generator, a expander, and a critic agent for scientific review. Each agent receives the previous agent’s structured output through Pydantic schemas, which mirrors the structured reasoning workflow described in the paper.It uses fixed orchestration rather than autonomous agent coordination.</a:t>
            </a:r>
            <a:endParaRPr/>
          </a:p>
          <a:p>
            <a:pPr indent="0" lvl="0" marL="0" rtl="0" algn="l">
              <a:spcBef>
                <a:spcPts val="1200"/>
              </a:spcBef>
              <a:spcAft>
                <a:spcPts val="0"/>
              </a:spcAft>
              <a:buNone/>
            </a:pPr>
            <a:r>
              <a:t/>
            </a:r>
            <a:endParaRPr/>
          </a:p>
        </p:txBody>
      </p:sp>
      <p:sp>
        <p:nvSpPr>
          <p:cNvPr id="129" name="Google Shape;129;g3e5614f6c24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614f6c2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temperature</a:t>
            </a:r>
            <a:r>
              <a:rPr lang="en-US">
                <a:solidFill>
                  <a:schemeClr val="dk1"/>
                </a:solidFill>
              </a:rPr>
              <a:t> is a hyperparameter that controls the randomness, creativity, and predictability of the model's generated text.</a:t>
            </a:r>
            <a:endParaRPr/>
          </a:p>
        </p:txBody>
      </p:sp>
      <p:sp>
        <p:nvSpPr>
          <p:cNvPr id="161" name="Google Shape;161;g3e5614f6c2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For the first pair, I connected Sleep Deprivation and Natural Killer Cells. The graph discovered a pathway through the sympathetic nervous system and norepinephrine signaling. The hypothesis proposes that chronic sleep deprivation does more than temporarily suppress immunity—it may epigenetically reprogram NK cells and create long-term immune dysfunction. I considered this partially plausible because the biological pathway is known, but the epigenetic mechanism is still speculative. The connection is only moderately novel because sleep and immunity are already strongly linked. </a:t>
            </a:r>
            <a:endParaRPr/>
          </a:p>
        </p:txBody>
      </p:sp>
      <p:sp>
        <p:nvSpPr>
          <p:cNvPr id="181" name="Google Shape;1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second pair connected REM sleep disruption to microglial activation through circadian desynchronization and epigenetic remodeling. The hypothesis suggests that chronic REM disruption changes the internal clock of microglia, making them more likely to stay in an inflammatory state. I think the connection is plausible because it connects sleep, circadian biology, epigenetics, and neuroinflammation into one mechanism. I rated it non-obvious because the relationship is not immediately obvious without graph exploration. </a:t>
            </a:r>
            <a:endParaRPr/>
          </a:p>
        </p:txBody>
      </p:sp>
      <p:sp>
        <p:nvSpPr>
          <p:cNvPr id="198" name="Google Shape;19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For the third run, I connected the glymphatic system and dendritic cells. The graph found a long path involving oxidative stress, inflammatory signaling, the HPA axis, and cortisol. The resulting hypothesis suggests that impaired waste clearance in the brain could eventually suppress dendritic cell function. I considered this novel because most people would not naturally connect glymphatic clearance and dendritic cells. However, I only rated it partially plausible because the mechanism requires many intermediate steps and assumptions. </a:t>
            </a:r>
            <a:endParaRPr/>
          </a:p>
        </p:txBody>
      </p:sp>
      <p:sp>
        <p:nvSpPr>
          <p:cNvPr id="217" name="Google Shape;21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most interesting part of this project was not actually the final hypotheses, but how the system generated and evaluated them. I was surprised that the graph could find meaningful connections between concepts that appear unrelated at first glance. I found the Critic agent to be the most valuable component. Without the Critic, many hypotheses looked convincing simply because they were written fluently. The Critic consistently identified unsupported assumptions and logical gaps. </a:t>
            </a:r>
            <a:endParaRPr/>
          </a:p>
        </p:txBody>
      </p:sp>
      <p:sp>
        <p:nvSpPr>
          <p:cNvPr id="237" name="Google Shape;23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ca539c2e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first limitation is the knowledge graph itself. I manually created a relatively small graph, so the quality of the results depends heavily on the concepts and relationships I included.PIPELINE. SUBJECTIVE.  Another limitation is that large language models sometimes produce mechanisms that sound scientifically detailed but are difficult to verify. This is why the Critic agent is important. </a:t>
            </a:r>
            <a:endParaRPr/>
          </a:p>
        </p:txBody>
      </p:sp>
      <p:sp>
        <p:nvSpPr>
          <p:cNvPr id="249" name="Google Shape;249;g3eca539c2ee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6.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571500" y="1426964"/>
            <a:ext cx="110490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1" i="0" lang="en-US" sz="1800" u="none" cap="none" strike="noStrike">
                <a:solidFill>
                  <a:srgbClr val="64748B"/>
                </a:solidFill>
                <a:latin typeface="DM Sans"/>
                <a:ea typeface="DM Sans"/>
                <a:cs typeface="DM Sans"/>
                <a:sym typeface="DM Sans"/>
              </a:rPr>
              <a:t>INTERNSHIP ASSIGNMENT</a:t>
            </a:r>
            <a:endParaRPr/>
          </a:p>
        </p:txBody>
      </p:sp>
      <p:sp>
        <p:nvSpPr>
          <p:cNvPr id="86" name="Google Shape;86;p13"/>
          <p:cNvSpPr txBox="1"/>
          <p:nvPr/>
        </p:nvSpPr>
        <p:spPr>
          <a:xfrm>
            <a:off x="295275" y="2021234"/>
            <a:ext cx="11601600" cy="2475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b="1" lang="en-US" sz="3000">
                <a:solidFill>
                  <a:srgbClr val="1A3A5C"/>
                </a:solidFill>
              </a:rPr>
              <a:t>Build a Mini SciAgents:</a:t>
            </a:r>
            <a:br>
              <a:rPr b="1" lang="en-US" sz="3000">
                <a:solidFill>
                  <a:srgbClr val="1A3A5C"/>
                </a:solidFill>
              </a:rPr>
            </a:br>
            <a:r>
              <a:rPr lang="en-US" sz="1700">
                <a:solidFill>
                  <a:schemeClr val="dk1"/>
                </a:solidFill>
              </a:rPr>
              <a:t> </a:t>
            </a:r>
            <a:r>
              <a:rPr b="1" lang="en-US" sz="3000">
                <a:solidFill>
                  <a:srgbClr val="1A3A5C"/>
                </a:solidFill>
              </a:rPr>
              <a:t>Multi-Agent Scientific</a:t>
            </a:r>
            <a:br>
              <a:rPr b="1" lang="en-US" sz="3000">
                <a:solidFill>
                  <a:srgbClr val="1A3A5C"/>
                </a:solidFill>
              </a:rPr>
            </a:br>
            <a:r>
              <a:rPr lang="en-US" sz="1700">
                <a:solidFill>
                  <a:schemeClr val="dk1"/>
                </a:solidFill>
              </a:rPr>
              <a:t> </a:t>
            </a:r>
            <a:r>
              <a:rPr b="1" lang="en-US" sz="3000">
                <a:solidFill>
                  <a:srgbClr val="1A3A5C"/>
                </a:solidFill>
              </a:rPr>
              <a:t>Hypothesis Discovery</a:t>
            </a:r>
            <a:endParaRPr b="1" sz="3000">
              <a:solidFill>
                <a:srgbClr val="1A3A5C"/>
              </a:solidFill>
            </a:endParaRPr>
          </a:p>
          <a:p>
            <a:pPr indent="0" lvl="0" marL="0" marR="0" rtl="0" algn="ctr">
              <a:lnSpc>
                <a:spcPct val="110000"/>
              </a:lnSpc>
              <a:spcBef>
                <a:spcPts val="400"/>
              </a:spcBef>
              <a:spcAft>
                <a:spcPts val="0"/>
              </a:spcAft>
              <a:buNone/>
            </a:pPr>
            <a:r>
              <a:t/>
            </a:r>
            <a:endParaRPr b="1" sz="5400">
              <a:solidFill>
                <a:srgbClr val="005088"/>
              </a:solidFill>
              <a:latin typeface="Merriweather"/>
              <a:ea typeface="Merriweather"/>
              <a:cs typeface="Merriweather"/>
              <a:sym typeface="Merriweather"/>
            </a:endParaRPr>
          </a:p>
        </p:txBody>
      </p:sp>
      <p:sp>
        <p:nvSpPr>
          <p:cNvPr id="87" name="Google Shape;87;p13"/>
          <p:cNvSpPr txBox="1"/>
          <p:nvPr/>
        </p:nvSpPr>
        <p:spPr>
          <a:xfrm>
            <a:off x="1809750" y="3934306"/>
            <a:ext cx="8572500" cy="588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200"/>
              </a:spcBef>
              <a:spcAft>
                <a:spcPts val="0"/>
              </a:spcAft>
              <a:buClr>
                <a:schemeClr val="dk1"/>
              </a:buClr>
              <a:buSzPts val="1100"/>
              <a:buFont typeface="Arial"/>
              <a:buNone/>
            </a:pPr>
            <a:r>
              <a:rPr i="1" lang="en-US" sz="1700">
                <a:solidFill>
                  <a:srgbClr val="4B5563"/>
                </a:solidFill>
              </a:rPr>
              <a:t>Based on: SciAgents — Automating Scientific Discovery</a:t>
            </a:r>
            <a:endParaRPr i="1" sz="1700">
              <a:solidFill>
                <a:srgbClr val="4B5563"/>
              </a:solidFill>
            </a:endParaRPr>
          </a:p>
          <a:p>
            <a:pPr indent="0" lvl="0" marL="0" marR="0" rtl="0" algn="ctr">
              <a:lnSpc>
                <a:spcPct val="159952"/>
              </a:lnSpc>
              <a:spcBef>
                <a:spcPts val="200"/>
              </a:spcBef>
              <a:spcAft>
                <a:spcPts val="0"/>
              </a:spcAft>
              <a:buNone/>
            </a:pPr>
            <a:r>
              <a:rPr lang="en-US" sz="1600">
                <a:solidFill>
                  <a:srgbClr val="4B5563"/>
                </a:solidFill>
              </a:rPr>
              <a:t>Ghafarollahi &amp; Buehler, arXiv:2409.05556, MIT, 2024</a:t>
            </a:r>
            <a:r>
              <a:rPr lang="en-US" sz="1700">
                <a:solidFill>
                  <a:schemeClr val="dk1"/>
                </a:solidFill>
              </a:rPr>
              <a:t> </a:t>
            </a:r>
            <a:endParaRPr sz="2000"/>
          </a:p>
        </p:txBody>
      </p:sp>
      <p:sp>
        <p:nvSpPr>
          <p:cNvPr id="88" name="Google Shape;88;p13"/>
          <p:cNvSpPr/>
          <p:nvPr/>
        </p:nvSpPr>
        <p:spPr>
          <a:xfrm>
            <a:off x="5619750" y="4916537"/>
            <a:ext cx="952500" cy="5715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txBox="1"/>
          <p:nvPr/>
        </p:nvSpPr>
        <p:spPr>
          <a:xfrm>
            <a:off x="571500" y="5164187"/>
            <a:ext cx="110490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Student:</a:t>
            </a:r>
            <a:r>
              <a:rPr lang="en-US" sz="1500">
                <a:solidFill>
                  <a:srgbClr val="334155"/>
                </a:solidFill>
                <a:latin typeface="DM Sans"/>
                <a:ea typeface="DM Sans"/>
                <a:cs typeface="DM Sans"/>
                <a:sym typeface="DM Sans"/>
              </a:rPr>
              <a:t> Qinghe Lou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6381750" y="2062162"/>
            <a:ext cx="5238750" cy="3810000"/>
          </a:xfrm>
          <a:prstGeom prst="rect">
            <a:avLst/>
          </a:prstGeom>
          <a:noFill/>
          <a:ln>
            <a:noFill/>
          </a:ln>
        </p:spPr>
      </p:pic>
      <p:sp>
        <p:nvSpPr>
          <p:cNvPr id="96" name="Google Shape;96;p14"/>
          <p:cNvSpPr txBox="1"/>
          <p:nvPr/>
        </p:nvSpPr>
        <p:spPr>
          <a:xfrm>
            <a:off x="571500" y="2671762"/>
            <a:ext cx="52389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Scientific breakthroughs often remain hidden in the specialized fields. </a:t>
            </a:r>
            <a:r>
              <a:rPr b="1" i="0" lang="en-US" sz="1500" u="none" cap="none" strike="noStrike">
                <a:solidFill>
                  <a:srgbClr val="334155"/>
                </a:solidFill>
                <a:latin typeface="DM Sans"/>
                <a:ea typeface="DM Sans"/>
                <a:cs typeface="DM Sans"/>
                <a:sym typeface="DM Sans"/>
              </a:rPr>
              <a:t>SciAgents</a:t>
            </a:r>
            <a:r>
              <a:rPr b="0" i="0" lang="en-US" sz="1500" u="none" cap="none" strike="noStrike">
                <a:solidFill>
                  <a:srgbClr val="334155"/>
                </a:solidFill>
                <a:latin typeface="DM Sans"/>
                <a:ea typeface="DM Sans"/>
                <a:cs typeface="DM Sans"/>
                <a:sym typeface="DM Sans"/>
              </a:rPr>
              <a:t> addresses this by:</a:t>
            </a:r>
            <a:endParaRPr/>
          </a:p>
        </p:txBody>
      </p:sp>
      <p:pic>
        <p:nvPicPr>
          <p:cNvPr descr="image.png" id="97" name="Google Shape;97;p14"/>
          <p:cNvPicPr preferRelativeResize="0"/>
          <p:nvPr/>
        </p:nvPicPr>
        <p:blipFill rotWithShape="1">
          <a:blip r:embed="rId5">
            <a:alphaModFix/>
          </a:blip>
          <a:srcRect b="0" l="0" r="0" t="0"/>
          <a:stretch/>
        </p:blipFill>
        <p:spPr>
          <a:xfrm>
            <a:off x="6457950" y="2138362"/>
            <a:ext cx="5086350" cy="3657600"/>
          </a:xfrm>
          <a:prstGeom prst="rect">
            <a:avLst/>
          </a:prstGeom>
          <a:noFill/>
          <a:ln>
            <a:noFill/>
          </a:ln>
        </p:spPr>
      </p:pic>
      <p:sp>
        <p:nvSpPr>
          <p:cNvPr id="98" name="Google Shape;98;p14"/>
          <p:cNvSpPr txBox="1"/>
          <p:nvPr/>
        </p:nvSpPr>
        <p:spPr>
          <a:xfrm>
            <a:off x="695325" y="347186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99" name="Google Shape;99;p14"/>
          <p:cNvSpPr txBox="1"/>
          <p:nvPr/>
        </p:nvSpPr>
        <p:spPr>
          <a:xfrm>
            <a:off x="762000" y="3471862"/>
            <a:ext cx="5048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Treating scientific knowledge as a </a:t>
            </a:r>
            <a:r>
              <a:rPr b="1" i="0" lang="en-US" sz="1500" u="none" cap="none" strike="noStrike">
                <a:solidFill>
                  <a:srgbClr val="334155"/>
                </a:solidFill>
                <a:latin typeface="DM Sans"/>
                <a:ea typeface="DM Sans"/>
                <a:cs typeface="DM Sans"/>
                <a:sym typeface="DM Sans"/>
              </a:rPr>
              <a:t>Knowledge Graph</a:t>
            </a:r>
            <a:r>
              <a:rPr b="0" i="0" lang="en-US" sz="1500" u="none" cap="none" strike="noStrike">
                <a:solidFill>
                  <a:srgbClr val="334155"/>
                </a:solidFill>
                <a:latin typeface="DM Sans"/>
                <a:ea typeface="DM Sans"/>
                <a:cs typeface="DM Sans"/>
                <a:sym typeface="DM Sans"/>
              </a:rPr>
              <a:t>.</a:t>
            </a:r>
            <a:endParaRPr/>
          </a:p>
        </p:txBody>
      </p:sp>
      <p:sp>
        <p:nvSpPr>
          <p:cNvPr id="100" name="Google Shape;100;p14"/>
          <p:cNvSpPr txBox="1"/>
          <p:nvPr/>
        </p:nvSpPr>
        <p:spPr>
          <a:xfrm>
            <a:off x="695325" y="377666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01" name="Google Shape;101;p14"/>
          <p:cNvSpPr txBox="1"/>
          <p:nvPr/>
        </p:nvSpPr>
        <p:spPr>
          <a:xfrm>
            <a:off x="762000" y="3776662"/>
            <a:ext cx="5048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Using specialized LLM agents to "walk the graph."</a:t>
            </a:r>
            <a:endParaRPr/>
          </a:p>
        </p:txBody>
      </p:sp>
      <p:sp>
        <p:nvSpPr>
          <p:cNvPr id="102" name="Google Shape;102;p14"/>
          <p:cNvSpPr txBox="1"/>
          <p:nvPr/>
        </p:nvSpPr>
        <p:spPr>
          <a:xfrm>
            <a:off x="695325" y="408146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03" name="Google Shape;103;p14"/>
          <p:cNvSpPr txBox="1"/>
          <p:nvPr/>
        </p:nvSpPr>
        <p:spPr>
          <a:xfrm>
            <a:off x="762000" y="4081462"/>
            <a:ext cx="5048400" cy="2310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Connecting seemingly distant concepts</a:t>
            </a:r>
            <a:endParaRPr/>
          </a:p>
        </p:txBody>
      </p:sp>
      <p:sp>
        <p:nvSpPr>
          <p:cNvPr id="104" name="Google Shape;104;p14"/>
          <p:cNvSpPr txBox="1"/>
          <p:nvPr/>
        </p:nvSpPr>
        <p:spPr>
          <a:xfrm>
            <a:off x="695325" y="4691062"/>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05" name="Google Shape;105;p14"/>
          <p:cNvSpPr txBox="1"/>
          <p:nvPr/>
        </p:nvSpPr>
        <p:spPr>
          <a:xfrm>
            <a:off x="762000" y="4691062"/>
            <a:ext cx="504840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Generating testable, non-obvious hypotheses without human intervention.</a:t>
            </a:r>
            <a:endParaRPr/>
          </a:p>
        </p:txBody>
      </p:sp>
      <p:sp>
        <p:nvSpPr>
          <p:cNvPr id="106" name="Google Shape;106;p14"/>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The Challenge: Bridging Disciplines</a:t>
            </a:r>
            <a:endParaRPr/>
          </a:p>
        </p:txBody>
      </p:sp>
      <p:sp>
        <p:nvSpPr>
          <p:cNvPr id="107" name="Google Shape;107;p14"/>
          <p:cNvSpPr/>
          <p:nvPr/>
        </p:nvSpPr>
        <p:spPr>
          <a:xfrm>
            <a:off x="571500" y="1238250"/>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11" name="Shape 111"/>
        <p:cNvGrpSpPr/>
        <p:nvPr/>
      </p:nvGrpSpPr>
      <p:grpSpPr>
        <a:xfrm>
          <a:off x="0" y="0"/>
          <a:ext cx="0" cy="0"/>
          <a:chOff x="0" y="0"/>
          <a:chExt cx="0" cy="0"/>
        </a:xfrm>
      </p:grpSpPr>
      <p:pic>
        <p:nvPicPr>
          <p:cNvPr descr="image.png" id="112" name="Google Shape;112;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3" name="Google Shape;113;p15"/>
          <p:cNvPicPr preferRelativeResize="0"/>
          <p:nvPr/>
        </p:nvPicPr>
        <p:blipFill rotWithShape="1">
          <a:blip r:embed="rId4">
            <a:alphaModFix/>
          </a:blip>
          <a:srcRect b="0" l="0" r="0" t="0"/>
          <a:stretch/>
        </p:blipFill>
        <p:spPr>
          <a:xfrm>
            <a:off x="571500" y="2214562"/>
            <a:ext cx="3492549" cy="3505200"/>
          </a:xfrm>
          <a:prstGeom prst="rect">
            <a:avLst/>
          </a:prstGeom>
          <a:noFill/>
          <a:ln>
            <a:noFill/>
          </a:ln>
        </p:spPr>
      </p:pic>
      <p:pic>
        <p:nvPicPr>
          <p:cNvPr descr="image.png" id="114" name="Google Shape;114;p15"/>
          <p:cNvPicPr preferRelativeResize="0"/>
          <p:nvPr/>
        </p:nvPicPr>
        <p:blipFill rotWithShape="1">
          <a:blip r:embed="rId5">
            <a:alphaModFix/>
          </a:blip>
          <a:srcRect b="0" l="0" r="0" t="0"/>
          <a:stretch/>
        </p:blipFill>
        <p:spPr>
          <a:xfrm>
            <a:off x="4349799" y="2214562"/>
            <a:ext cx="3492549" cy="3505200"/>
          </a:xfrm>
          <a:prstGeom prst="rect">
            <a:avLst/>
          </a:prstGeom>
          <a:noFill/>
          <a:ln>
            <a:noFill/>
          </a:ln>
        </p:spPr>
      </p:pic>
      <p:pic>
        <p:nvPicPr>
          <p:cNvPr descr="image.png" id="115" name="Google Shape;115;p15"/>
          <p:cNvPicPr preferRelativeResize="0"/>
          <p:nvPr/>
        </p:nvPicPr>
        <p:blipFill rotWithShape="1">
          <a:blip r:embed="rId6">
            <a:alphaModFix/>
          </a:blip>
          <a:srcRect b="0" l="0" r="0" t="0"/>
          <a:stretch/>
        </p:blipFill>
        <p:spPr>
          <a:xfrm>
            <a:off x="8128099" y="2214562"/>
            <a:ext cx="3492549" cy="3505200"/>
          </a:xfrm>
          <a:prstGeom prst="rect">
            <a:avLst/>
          </a:prstGeom>
          <a:noFill/>
          <a:ln>
            <a:noFill/>
          </a:ln>
        </p:spPr>
      </p:pic>
      <p:sp>
        <p:nvSpPr>
          <p:cNvPr id="116" name="Google Shape;116;p15"/>
          <p:cNvSpPr txBox="1"/>
          <p:nvPr/>
        </p:nvSpPr>
        <p:spPr>
          <a:xfrm>
            <a:off x="914400" y="3186112"/>
            <a:ext cx="3007094"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Generator</a:t>
            </a:r>
            <a:endParaRPr/>
          </a:p>
        </p:txBody>
      </p:sp>
      <p:sp>
        <p:nvSpPr>
          <p:cNvPr id="117" name="Google Shape;117;p15"/>
          <p:cNvSpPr txBox="1"/>
          <p:nvPr/>
        </p:nvSpPr>
        <p:spPr>
          <a:xfrm>
            <a:off x="914400" y="3719512"/>
            <a:ext cx="28638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Analyzes graph topology to find non-obvious paths and constructs the "Bridge Hypothesis" across domains.</a:t>
            </a:r>
            <a:endParaRPr/>
          </a:p>
        </p:txBody>
      </p:sp>
      <p:sp>
        <p:nvSpPr>
          <p:cNvPr id="118" name="Google Shape;118;p15"/>
          <p:cNvSpPr txBox="1"/>
          <p:nvPr/>
        </p:nvSpPr>
        <p:spPr>
          <a:xfrm>
            <a:off x="4692699" y="3186112"/>
            <a:ext cx="3007094"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Expander</a:t>
            </a:r>
            <a:endParaRPr/>
          </a:p>
        </p:txBody>
      </p:sp>
      <p:sp>
        <p:nvSpPr>
          <p:cNvPr id="119" name="Google Shape;119;p15"/>
          <p:cNvSpPr txBox="1"/>
          <p:nvPr/>
        </p:nvSpPr>
        <p:spPr>
          <a:xfrm>
            <a:off x="4692699" y="3719512"/>
            <a:ext cx="28638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Develops the step-by-step mechanism and proposes actionable experiment</a:t>
            </a:r>
            <a:r>
              <a:rPr lang="en-US" sz="1500">
                <a:solidFill>
                  <a:srgbClr val="334155"/>
                </a:solidFill>
                <a:latin typeface="DM Sans"/>
                <a:ea typeface="DM Sans"/>
                <a:cs typeface="DM Sans"/>
                <a:sym typeface="DM Sans"/>
              </a:rPr>
              <a:t>s</a:t>
            </a:r>
            <a:r>
              <a:rPr b="0" i="0" lang="en-US" sz="1500" u="none" cap="none" strike="noStrike">
                <a:solidFill>
                  <a:srgbClr val="334155"/>
                </a:solidFill>
                <a:latin typeface="DM Sans"/>
                <a:ea typeface="DM Sans"/>
                <a:cs typeface="DM Sans"/>
                <a:sym typeface="DM Sans"/>
              </a:rPr>
              <a:t> to test the theory.</a:t>
            </a:r>
            <a:endParaRPr/>
          </a:p>
        </p:txBody>
      </p:sp>
      <p:sp>
        <p:nvSpPr>
          <p:cNvPr id="120" name="Google Shape;120;p15"/>
          <p:cNvSpPr txBox="1"/>
          <p:nvPr/>
        </p:nvSpPr>
        <p:spPr>
          <a:xfrm>
            <a:off x="8470999" y="3186112"/>
            <a:ext cx="3007094"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Critic</a:t>
            </a:r>
            <a:endParaRPr/>
          </a:p>
        </p:txBody>
      </p:sp>
      <p:sp>
        <p:nvSpPr>
          <p:cNvPr id="121" name="Google Shape;121;p15"/>
          <p:cNvSpPr txBox="1"/>
          <p:nvPr/>
        </p:nvSpPr>
        <p:spPr>
          <a:xfrm>
            <a:off x="8470999" y="3719512"/>
            <a:ext cx="28638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Performs a peer review, identifying confounding variables and logical gaps in the proposed pathway.</a:t>
            </a:r>
            <a:endParaRPr/>
          </a:p>
        </p:txBody>
      </p:sp>
      <p:pic>
        <p:nvPicPr>
          <p:cNvPr descr="image.png" id="122" name="Google Shape;122;p15"/>
          <p:cNvPicPr preferRelativeResize="0"/>
          <p:nvPr/>
        </p:nvPicPr>
        <p:blipFill rotWithShape="1">
          <a:blip r:embed="rId7">
            <a:alphaModFix/>
          </a:blip>
          <a:srcRect b="0" l="0" r="0" t="0"/>
          <a:stretch/>
        </p:blipFill>
        <p:spPr>
          <a:xfrm>
            <a:off x="914400" y="2547937"/>
            <a:ext cx="381000" cy="381000"/>
          </a:xfrm>
          <a:prstGeom prst="rect">
            <a:avLst/>
          </a:prstGeom>
          <a:noFill/>
          <a:ln>
            <a:noFill/>
          </a:ln>
        </p:spPr>
      </p:pic>
      <p:pic>
        <p:nvPicPr>
          <p:cNvPr descr="image.png" id="123" name="Google Shape;123;p15"/>
          <p:cNvPicPr preferRelativeResize="0"/>
          <p:nvPr/>
        </p:nvPicPr>
        <p:blipFill rotWithShape="1">
          <a:blip r:embed="rId8">
            <a:alphaModFix/>
          </a:blip>
          <a:srcRect b="0" l="0" r="0" t="0"/>
          <a:stretch/>
        </p:blipFill>
        <p:spPr>
          <a:xfrm>
            <a:off x="4692699" y="2547937"/>
            <a:ext cx="333375" cy="381000"/>
          </a:xfrm>
          <a:prstGeom prst="rect">
            <a:avLst/>
          </a:prstGeom>
          <a:noFill/>
          <a:ln>
            <a:noFill/>
          </a:ln>
        </p:spPr>
      </p:pic>
      <p:pic>
        <p:nvPicPr>
          <p:cNvPr descr="image.png" id="124" name="Google Shape;124;p15"/>
          <p:cNvPicPr preferRelativeResize="0"/>
          <p:nvPr/>
        </p:nvPicPr>
        <p:blipFill rotWithShape="1">
          <a:blip r:embed="rId9">
            <a:alphaModFix/>
          </a:blip>
          <a:srcRect b="0" l="0" r="0" t="0"/>
          <a:stretch/>
        </p:blipFill>
        <p:spPr>
          <a:xfrm>
            <a:off x="8470999" y="2547937"/>
            <a:ext cx="381000" cy="381000"/>
          </a:xfrm>
          <a:prstGeom prst="rect">
            <a:avLst/>
          </a:prstGeom>
          <a:noFill/>
          <a:ln>
            <a:noFill/>
          </a:ln>
        </p:spPr>
      </p:pic>
      <p:sp>
        <p:nvSpPr>
          <p:cNvPr id="125" name="Google Shape;125;p1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The Multi-Agent </a:t>
            </a:r>
            <a:r>
              <a:rPr b="1" lang="en-US" sz="3600">
                <a:solidFill>
                  <a:srgbClr val="005088"/>
                </a:solidFill>
                <a:latin typeface="Merriweather"/>
                <a:ea typeface="Merriweather"/>
                <a:cs typeface="Merriweather"/>
                <a:sym typeface="Merriweather"/>
              </a:rPr>
              <a:t>Roles</a:t>
            </a:r>
            <a:endParaRPr/>
          </a:p>
        </p:txBody>
      </p:sp>
      <p:sp>
        <p:nvSpPr>
          <p:cNvPr id="126" name="Google Shape;126;p15"/>
          <p:cNvSpPr/>
          <p:nvPr/>
        </p:nvSpPr>
        <p:spPr>
          <a:xfrm>
            <a:off x="571500" y="1238250"/>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30" name="Shape 130"/>
        <p:cNvGrpSpPr/>
        <p:nvPr/>
      </p:nvGrpSpPr>
      <p:grpSpPr>
        <a:xfrm>
          <a:off x="0" y="0"/>
          <a:ext cx="0" cy="0"/>
          <a:chOff x="0" y="0"/>
          <a:chExt cx="0" cy="0"/>
        </a:xfrm>
      </p:grpSpPr>
      <p:pic>
        <p:nvPicPr>
          <p:cNvPr descr="image.png" id="131" name="Google Shape;131;p16"/>
          <p:cNvPicPr preferRelativeResize="0"/>
          <p:nvPr/>
        </p:nvPicPr>
        <p:blipFill rotWithShape="1">
          <a:blip r:embed="rId3">
            <a:alphaModFix/>
          </a:blip>
          <a:srcRect b="0" l="0" r="0" t="0"/>
          <a:stretch/>
        </p:blipFill>
        <p:spPr>
          <a:xfrm>
            <a:off x="571500" y="2334517"/>
            <a:ext cx="5334000" cy="2464891"/>
          </a:xfrm>
          <a:prstGeom prst="rect">
            <a:avLst/>
          </a:prstGeom>
          <a:noFill/>
          <a:ln>
            <a:noFill/>
          </a:ln>
        </p:spPr>
      </p:pic>
      <p:pic>
        <p:nvPicPr>
          <p:cNvPr descr="image.png" id="132" name="Google Shape;132;p16"/>
          <p:cNvPicPr preferRelativeResize="0"/>
          <p:nvPr/>
        </p:nvPicPr>
        <p:blipFill rotWithShape="1">
          <a:blip r:embed="rId4">
            <a:alphaModFix/>
          </a:blip>
          <a:srcRect b="0" l="0" r="0" t="0"/>
          <a:stretch/>
        </p:blipFill>
        <p:spPr>
          <a:xfrm>
            <a:off x="6286500" y="2227957"/>
            <a:ext cx="5334000" cy="2678162"/>
          </a:xfrm>
          <a:prstGeom prst="rect">
            <a:avLst/>
          </a:prstGeom>
          <a:noFill/>
          <a:ln>
            <a:noFill/>
          </a:ln>
        </p:spPr>
      </p:pic>
      <p:pic>
        <p:nvPicPr>
          <p:cNvPr descr="image.png" id="133" name="Google Shape;133;p16"/>
          <p:cNvPicPr preferRelativeResize="0"/>
          <p:nvPr/>
        </p:nvPicPr>
        <p:blipFill rotWithShape="1">
          <a:blip r:embed="rId5">
            <a:alphaModFix/>
          </a:blip>
          <a:srcRect b="0" l="0" r="0" t="0"/>
          <a:stretch/>
        </p:blipFill>
        <p:spPr>
          <a:xfrm>
            <a:off x="819150" y="2620267"/>
            <a:ext cx="1533525" cy="247650"/>
          </a:xfrm>
          <a:prstGeom prst="rect">
            <a:avLst/>
          </a:prstGeom>
          <a:noFill/>
          <a:ln>
            <a:noFill/>
          </a:ln>
        </p:spPr>
      </p:pic>
      <p:pic>
        <p:nvPicPr>
          <p:cNvPr descr="image.png" id="134" name="Google Shape;134;p16"/>
          <p:cNvPicPr preferRelativeResize="0"/>
          <p:nvPr/>
        </p:nvPicPr>
        <p:blipFill rotWithShape="1">
          <a:blip r:embed="rId6">
            <a:alphaModFix/>
          </a:blip>
          <a:srcRect b="0" l="0" r="0" t="0"/>
          <a:stretch/>
        </p:blipFill>
        <p:spPr>
          <a:xfrm>
            <a:off x="6534150" y="2513707"/>
            <a:ext cx="1733550" cy="247650"/>
          </a:xfrm>
          <a:prstGeom prst="rect">
            <a:avLst/>
          </a:prstGeom>
          <a:noFill/>
          <a:ln>
            <a:noFill/>
          </a:ln>
        </p:spPr>
      </p:pic>
      <p:sp>
        <p:nvSpPr>
          <p:cNvPr id="135" name="Google Shape;135;p16"/>
          <p:cNvSpPr txBox="1"/>
          <p:nvPr/>
        </p:nvSpPr>
        <p:spPr>
          <a:xfrm>
            <a:off x="571500" y="571500"/>
            <a:ext cx="116016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05088"/>
                </a:solidFill>
                <a:latin typeface="Merriweather"/>
                <a:ea typeface="Merriweather"/>
                <a:cs typeface="Merriweather"/>
                <a:sym typeface="Merriweather"/>
              </a:rPr>
              <a:t>Architectural Trade-off Decisions</a:t>
            </a:r>
            <a:endParaRPr/>
          </a:p>
        </p:txBody>
      </p:sp>
      <p:sp>
        <p:nvSpPr>
          <p:cNvPr id="136" name="Google Shape;136;p16"/>
          <p:cNvSpPr/>
          <p:nvPr/>
        </p:nvSpPr>
        <p:spPr>
          <a:xfrm>
            <a:off x="571500" y="1190625"/>
            <a:ext cx="11049000" cy="1920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571500" y="5191869"/>
            <a:ext cx="110490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138" name="Google Shape;138;p16"/>
          <p:cNvSpPr txBox="1"/>
          <p:nvPr/>
        </p:nvSpPr>
        <p:spPr>
          <a:xfrm>
            <a:off x="819150" y="2963167"/>
            <a:ext cx="5080500" cy="34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005088"/>
                </a:solidFill>
                <a:latin typeface="Merriweather"/>
                <a:ea typeface="Merriweather"/>
                <a:cs typeface="Merriweather"/>
                <a:sym typeface="Merriweather"/>
              </a:rPr>
              <a:t>Linear Pipeline</a:t>
            </a:r>
            <a:endParaRPr/>
          </a:p>
        </p:txBody>
      </p:sp>
      <p:sp>
        <p:nvSpPr>
          <p:cNvPr id="139" name="Google Shape;139;p16"/>
          <p:cNvSpPr txBox="1"/>
          <p:nvPr/>
        </p:nvSpPr>
        <p:spPr>
          <a:xfrm>
            <a:off x="819150" y="3515617"/>
            <a:ext cx="4838700" cy="23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500" u="none" cap="none" strike="noStrike">
                <a:solidFill>
                  <a:srgbClr val="1E293B"/>
                </a:solidFill>
                <a:latin typeface="DM Sans"/>
                <a:ea typeface="DM Sans"/>
                <a:cs typeface="DM Sans"/>
                <a:sym typeface="DM Sans"/>
              </a:rPr>
              <a:t>Generator → Expander → Critic</a:t>
            </a:r>
            <a:endParaRPr/>
          </a:p>
        </p:txBody>
      </p:sp>
      <p:sp>
        <p:nvSpPr>
          <p:cNvPr id="140" name="Google Shape;140;p16"/>
          <p:cNvSpPr txBox="1"/>
          <p:nvPr/>
        </p:nvSpPr>
        <p:spPr>
          <a:xfrm>
            <a:off x="819150" y="3972817"/>
            <a:ext cx="48387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1E293B"/>
                </a:solidFill>
                <a:latin typeface="DM Sans"/>
                <a:ea typeface="DM Sans"/>
                <a:cs typeface="DM Sans"/>
                <a:sym typeface="DM Sans"/>
              </a:rPr>
              <a:t>To systematically evaluate 3 concept pairs under </a:t>
            </a:r>
            <a:r>
              <a:rPr b="1" i="0" lang="en-US" sz="1200" u="none" cap="none" strike="noStrike">
                <a:solidFill>
                  <a:srgbClr val="1E293B"/>
                </a:solidFill>
                <a:latin typeface="DM Sans"/>
                <a:ea typeface="DM Sans"/>
                <a:cs typeface="DM Sans"/>
                <a:sym typeface="DM Sans"/>
              </a:rPr>
              <a:t>strict token and quota limits</a:t>
            </a:r>
            <a:r>
              <a:rPr b="0" i="0" lang="en-US" sz="1200" u="none" cap="none" strike="noStrike">
                <a:solidFill>
                  <a:srgbClr val="1E293B"/>
                </a:solidFill>
                <a:latin typeface="DM Sans"/>
                <a:ea typeface="DM Sans"/>
                <a:cs typeface="DM Sans"/>
                <a:sym typeface="DM Sans"/>
              </a:rPr>
              <a:t>, the code implements a sequential execution model.</a:t>
            </a:r>
            <a:endParaRPr/>
          </a:p>
        </p:txBody>
      </p:sp>
      <p:sp>
        <p:nvSpPr>
          <p:cNvPr id="141" name="Google Shape;141;p16"/>
          <p:cNvSpPr txBox="1"/>
          <p:nvPr/>
        </p:nvSpPr>
        <p:spPr>
          <a:xfrm>
            <a:off x="6534150" y="2856607"/>
            <a:ext cx="5080500" cy="34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005088"/>
                </a:solidFill>
                <a:latin typeface="Merriweather"/>
                <a:ea typeface="Merriweather"/>
                <a:cs typeface="Merriweather"/>
                <a:sym typeface="Merriweather"/>
              </a:rPr>
              <a:t>In-Situ Refinement</a:t>
            </a:r>
            <a:endParaRPr/>
          </a:p>
        </p:txBody>
      </p:sp>
      <p:sp>
        <p:nvSpPr>
          <p:cNvPr id="142" name="Google Shape;142;p16"/>
          <p:cNvSpPr txBox="1"/>
          <p:nvPr/>
        </p:nvSpPr>
        <p:spPr>
          <a:xfrm>
            <a:off x="6534150" y="3409057"/>
            <a:ext cx="4838700" cy="23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500" u="none" cap="none" strike="noStrike">
                <a:solidFill>
                  <a:srgbClr val="1E293B"/>
                </a:solidFill>
                <a:latin typeface="DM Sans"/>
                <a:ea typeface="DM Sans"/>
                <a:cs typeface="DM Sans"/>
                <a:sym typeface="DM Sans"/>
              </a:rPr>
              <a:t>Recursive Feedback Loop</a:t>
            </a:r>
            <a:endParaRPr/>
          </a:p>
        </p:txBody>
      </p:sp>
      <p:sp>
        <p:nvSpPr>
          <p:cNvPr id="143" name="Google Shape;143;p16"/>
          <p:cNvSpPr txBox="1"/>
          <p:nvPr/>
        </p:nvSpPr>
        <p:spPr>
          <a:xfrm>
            <a:off x="6534150" y="3866257"/>
            <a:ext cx="4838700" cy="7017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1E293B"/>
                </a:solidFill>
                <a:latin typeface="DM Sans"/>
                <a:ea typeface="DM Sans"/>
                <a:cs typeface="DM Sans"/>
                <a:sym typeface="DM Sans"/>
              </a:rPr>
              <a:t>The MIT paper uses a "Swarm" of intelligence where agents talk back-and-forth. This is computationally expensive but ideal for accuracy.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47" name="Shape 147"/>
        <p:cNvGrpSpPr/>
        <p:nvPr/>
      </p:nvGrpSpPr>
      <p:grpSpPr>
        <a:xfrm>
          <a:off x="0" y="0"/>
          <a:ext cx="0" cy="0"/>
          <a:chOff x="0" y="0"/>
          <a:chExt cx="0" cy="0"/>
        </a:xfrm>
      </p:grpSpPr>
      <p:pic>
        <p:nvPicPr>
          <p:cNvPr descr="image.png" id="148" name="Google Shape;148;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9" name="Google Shape;149;p17"/>
          <p:cNvSpPr txBox="1"/>
          <p:nvPr/>
        </p:nvSpPr>
        <p:spPr>
          <a:xfrm>
            <a:off x="571500" y="571500"/>
            <a:ext cx="4950618"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In-Situ Learning</a:t>
            </a:r>
            <a:endParaRPr/>
          </a:p>
        </p:txBody>
      </p:sp>
      <p:pic>
        <p:nvPicPr>
          <p:cNvPr descr="image.png" id="150" name="Google Shape;150;p17"/>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51" name="Google Shape;151;p17"/>
          <p:cNvSpPr txBox="1"/>
          <p:nvPr/>
        </p:nvSpPr>
        <p:spPr>
          <a:xfrm>
            <a:off x="571500" y="1809750"/>
            <a:ext cx="47148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Beyond Linear Processing:</a:t>
            </a:r>
            <a:endParaRPr/>
          </a:p>
        </p:txBody>
      </p:sp>
      <p:sp>
        <p:nvSpPr>
          <p:cNvPr id="152" name="Google Shape;152;p17"/>
          <p:cNvSpPr txBox="1"/>
          <p:nvPr/>
        </p:nvSpPr>
        <p:spPr>
          <a:xfrm>
            <a:off x="571500" y="2495550"/>
            <a:ext cx="47148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True SciAgents behavior involves real-time feedback loops where agents refine their outputs based on peer critique.</a:t>
            </a:r>
            <a:endParaRPr/>
          </a:p>
        </p:txBody>
      </p:sp>
      <p:sp>
        <p:nvSpPr>
          <p:cNvPr id="153" name="Google Shape;153;p17"/>
          <p:cNvSpPr txBox="1"/>
          <p:nvPr/>
        </p:nvSpPr>
        <p:spPr>
          <a:xfrm>
            <a:off x="695325" y="3752850"/>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54" name="Google Shape;154;p17"/>
          <p:cNvSpPr txBox="1"/>
          <p:nvPr/>
        </p:nvSpPr>
        <p:spPr>
          <a:xfrm>
            <a:off x="762000" y="3752850"/>
            <a:ext cx="4524375"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Validation:</a:t>
            </a:r>
            <a:r>
              <a:rPr b="0" i="0" lang="en-US" sz="1500" u="none" cap="none" strike="noStrike">
                <a:solidFill>
                  <a:srgbClr val="334155"/>
                </a:solidFill>
                <a:latin typeface="DM Sans"/>
                <a:ea typeface="DM Sans"/>
                <a:cs typeface="DM Sans"/>
                <a:sym typeface="DM Sans"/>
              </a:rPr>
              <a:t> Critic identifies logical fallacies.</a:t>
            </a:r>
            <a:endParaRPr/>
          </a:p>
        </p:txBody>
      </p:sp>
      <p:sp>
        <p:nvSpPr>
          <p:cNvPr id="155" name="Google Shape;155;p17"/>
          <p:cNvSpPr txBox="1"/>
          <p:nvPr/>
        </p:nvSpPr>
        <p:spPr>
          <a:xfrm>
            <a:off x="695325" y="4057650"/>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56" name="Google Shape;156;p17"/>
          <p:cNvSpPr txBox="1"/>
          <p:nvPr/>
        </p:nvSpPr>
        <p:spPr>
          <a:xfrm>
            <a:off x="762000" y="4057650"/>
            <a:ext cx="452437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Refinement:</a:t>
            </a:r>
            <a:r>
              <a:rPr b="0" i="0" lang="en-US" sz="1500" u="none" cap="none" strike="noStrike">
                <a:solidFill>
                  <a:srgbClr val="334155"/>
                </a:solidFill>
                <a:latin typeface="DM Sans"/>
                <a:ea typeface="DM Sans"/>
                <a:cs typeface="DM Sans"/>
                <a:sym typeface="DM Sans"/>
              </a:rPr>
              <a:t> Expander rewrites the mechanism to address the bottleneck.</a:t>
            </a:r>
            <a:endParaRPr/>
          </a:p>
        </p:txBody>
      </p:sp>
      <p:sp>
        <p:nvSpPr>
          <p:cNvPr id="157" name="Google Shape;157;p17"/>
          <p:cNvSpPr txBox="1"/>
          <p:nvPr/>
        </p:nvSpPr>
        <p:spPr>
          <a:xfrm>
            <a:off x="695325" y="4667250"/>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58" name="Google Shape;158;p17"/>
          <p:cNvSpPr txBox="1"/>
          <p:nvPr/>
        </p:nvSpPr>
        <p:spPr>
          <a:xfrm>
            <a:off x="762000" y="4667250"/>
            <a:ext cx="452437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Optimization:</a:t>
            </a:r>
            <a:r>
              <a:rPr b="0" i="0" lang="en-US" sz="1500" u="none" cap="none" strike="noStrike">
                <a:solidFill>
                  <a:srgbClr val="334155"/>
                </a:solidFill>
                <a:latin typeface="DM Sans"/>
                <a:ea typeface="DM Sans"/>
                <a:cs typeface="DM Sans"/>
                <a:sym typeface="DM Sans"/>
              </a:rPr>
              <a:t> The final output is an "evolved" hypothesis that survived self-correction.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62" name="Shape 162"/>
        <p:cNvGrpSpPr/>
        <p:nvPr/>
      </p:nvGrpSpPr>
      <p:grpSpPr>
        <a:xfrm>
          <a:off x="0" y="0"/>
          <a:ext cx="0" cy="0"/>
          <a:chOff x="0" y="0"/>
          <a:chExt cx="0" cy="0"/>
        </a:xfrm>
      </p:grpSpPr>
      <p:pic>
        <p:nvPicPr>
          <p:cNvPr descr="image.png" id="163" name="Google Shape;163;p18"/>
          <p:cNvPicPr preferRelativeResize="0"/>
          <p:nvPr/>
        </p:nvPicPr>
        <p:blipFill rotWithShape="1">
          <a:blip r:embed="rId3">
            <a:alphaModFix/>
          </a:blip>
          <a:srcRect b="0" l="0" r="0" t="0"/>
          <a:stretch/>
        </p:blipFill>
        <p:spPr>
          <a:xfrm>
            <a:off x="28575" y="0"/>
            <a:ext cx="12192000" cy="6858000"/>
          </a:xfrm>
          <a:prstGeom prst="rect">
            <a:avLst/>
          </a:prstGeom>
          <a:noFill/>
          <a:ln>
            <a:noFill/>
          </a:ln>
        </p:spPr>
      </p:pic>
      <p:pic>
        <p:nvPicPr>
          <p:cNvPr descr="image.png" id="164" name="Google Shape;164;p18"/>
          <p:cNvPicPr preferRelativeResize="0"/>
          <p:nvPr/>
        </p:nvPicPr>
        <p:blipFill rotWithShape="1">
          <a:blip r:embed="rId4">
            <a:alphaModFix/>
          </a:blip>
          <a:srcRect b="0" l="0" r="0" t="0"/>
          <a:stretch/>
        </p:blipFill>
        <p:spPr>
          <a:xfrm>
            <a:off x="571500" y="2062162"/>
            <a:ext cx="3524250" cy="3095625"/>
          </a:xfrm>
          <a:prstGeom prst="rect">
            <a:avLst/>
          </a:prstGeom>
          <a:noFill/>
          <a:ln>
            <a:noFill/>
          </a:ln>
        </p:spPr>
      </p:pic>
      <p:pic>
        <p:nvPicPr>
          <p:cNvPr descr="image.png" id="165" name="Google Shape;165;p18"/>
          <p:cNvPicPr preferRelativeResize="0"/>
          <p:nvPr/>
        </p:nvPicPr>
        <p:blipFill rotWithShape="1">
          <a:blip r:embed="rId4">
            <a:alphaModFix/>
          </a:blip>
          <a:srcRect b="0" l="0" r="0" t="0"/>
          <a:stretch/>
        </p:blipFill>
        <p:spPr>
          <a:xfrm>
            <a:off x="4333875" y="2062162"/>
            <a:ext cx="3524250" cy="3095625"/>
          </a:xfrm>
          <a:prstGeom prst="rect">
            <a:avLst/>
          </a:prstGeom>
          <a:noFill/>
          <a:ln>
            <a:noFill/>
          </a:ln>
        </p:spPr>
      </p:pic>
      <p:pic>
        <p:nvPicPr>
          <p:cNvPr descr="image.png" id="166" name="Google Shape;166;p18"/>
          <p:cNvPicPr preferRelativeResize="0"/>
          <p:nvPr/>
        </p:nvPicPr>
        <p:blipFill rotWithShape="1">
          <a:blip r:embed="rId4">
            <a:alphaModFix/>
          </a:blip>
          <a:srcRect b="0" l="0" r="0" t="0"/>
          <a:stretch/>
        </p:blipFill>
        <p:spPr>
          <a:xfrm>
            <a:off x="8096250" y="2062162"/>
            <a:ext cx="3524250" cy="3095625"/>
          </a:xfrm>
          <a:prstGeom prst="rect">
            <a:avLst/>
          </a:prstGeom>
          <a:noFill/>
          <a:ln>
            <a:noFill/>
          </a:ln>
        </p:spPr>
      </p:pic>
      <p:pic>
        <p:nvPicPr>
          <p:cNvPr descr="image.png" id="167" name="Google Shape;167;p18"/>
          <p:cNvPicPr preferRelativeResize="0"/>
          <p:nvPr/>
        </p:nvPicPr>
        <p:blipFill rotWithShape="1">
          <a:blip r:embed="rId5">
            <a:alphaModFix/>
          </a:blip>
          <a:srcRect b="0" l="0" r="0" t="0"/>
          <a:stretch/>
        </p:blipFill>
        <p:spPr>
          <a:xfrm>
            <a:off x="914400" y="2347912"/>
            <a:ext cx="2895600" cy="266700"/>
          </a:xfrm>
          <a:prstGeom prst="rect">
            <a:avLst/>
          </a:prstGeom>
          <a:noFill/>
          <a:ln>
            <a:noFill/>
          </a:ln>
        </p:spPr>
      </p:pic>
      <p:pic>
        <p:nvPicPr>
          <p:cNvPr descr="image.png" id="168" name="Google Shape;168;p18"/>
          <p:cNvPicPr preferRelativeResize="0"/>
          <p:nvPr/>
        </p:nvPicPr>
        <p:blipFill rotWithShape="1">
          <a:blip r:embed="rId6">
            <a:alphaModFix/>
          </a:blip>
          <a:srcRect b="0" l="0" r="0" t="0"/>
          <a:stretch/>
        </p:blipFill>
        <p:spPr>
          <a:xfrm>
            <a:off x="4676775" y="2347912"/>
            <a:ext cx="2895600" cy="266700"/>
          </a:xfrm>
          <a:prstGeom prst="rect">
            <a:avLst/>
          </a:prstGeom>
          <a:noFill/>
          <a:ln>
            <a:noFill/>
          </a:ln>
        </p:spPr>
      </p:pic>
      <p:pic>
        <p:nvPicPr>
          <p:cNvPr descr="image.png" id="169" name="Google Shape;169;p18"/>
          <p:cNvPicPr preferRelativeResize="0"/>
          <p:nvPr/>
        </p:nvPicPr>
        <p:blipFill rotWithShape="1">
          <a:blip r:embed="rId7">
            <a:alphaModFix/>
          </a:blip>
          <a:srcRect b="0" l="0" r="0" t="0"/>
          <a:stretch/>
        </p:blipFill>
        <p:spPr>
          <a:xfrm>
            <a:off x="8439150" y="2347912"/>
            <a:ext cx="2895600" cy="266700"/>
          </a:xfrm>
          <a:prstGeom prst="rect">
            <a:avLst/>
          </a:prstGeom>
          <a:noFill/>
          <a:ln>
            <a:noFill/>
          </a:ln>
        </p:spPr>
      </p:pic>
      <p:sp>
        <p:nvSpPr>
          <p:cNvPr id="170" name="Google Shape;170;p18"/>
          <p:cNvSpPr txBox="1"/>
          <p:nvPr/>
        </p:nvSpPr>
        <p:spPr>
          <a:xfrm>
            <a:off x="571500" y="5443537"/>
            <a:ext cx="110490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1" lang="en-US" sz="1350" u="none" cap="none" strike="noStrike">
                <a:solidFill>
                  <a:srgbClr val="005088"/>
                </a:solidFill>
                <a:latin typeface="DM Sans"/>
                <a:ea typeface="DM Sans"/>
                <a:cs typeface="DM Sans"/>
                <a:sym typeface="DM Sans"/>
              </a:rPr>
              <a:t>"The funnel strategy allows for creative discovery at the top, while enforcing deterministic accuracy at the bottom."</a:t>
            </a:r>
            <a:endParaRPr/>
          </a:p>
        </p:txBody>
      </p:sp>
      <p:sp>
        <p:nvSpPr>
          <p:cNvPr id="171" name="Google Shape;171;p18"/>
          <p:cNvSpPr txBox="1"/>
          <p:nvPr/>
        </p:nvSpPr>
        <p:spPr>
          <a:xfrm>
            <a:off x="914400" y="2757487"/>
            <a:ext cx="30405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Creative Leap</a:t>
            </a:r>
            <a:endParaRPr/>
          </a:p>
        </p:txBody>
      </p:sp>
      <p:sp>
        <p:nvSpPr>
          <p:cNvPr id="172" name="Google Shape;172;p18"/>
          <p:cNvSpPr txBox="1"/>
          <p:nvPr/>
        </p:nvSpPr>
        <p:spPr>
          <a:xfrm>
            <a:off x="914400" y="3414712"/>
            <a:ext cx="28956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Generator:</a:t>
            </a:r>
            <a:r>
              <a:rPr b="0" i="0" lang="en-US" sz="1350" u="none" cap="none" strike="noStrike">
                <a:solidFill>
                  <a:srgbClr val="334155"/>
                </a:solidFill>
                <a:latin typeface="DM Sans"/>
                <a:ea typeface="DM Sans"/>
                <a:cs typeface="DM Sans"/>
                <a:sym typeface="DM Sans"/>
              </a:rPr>
              <a:t> Higher temperature allows for "non-obvious" semantic jumps across the graph topology, encouraging innovation.</a:t>
            </a:r>
            <a:endParaRPr/>
          </a:p>
        </p:txBody>
      </p:sp>
      <p:sp>
        <p:nvSpPr>
          <p:cNvPr id="173" name="Google Shape;173;p18"/>
          <p:cNvSpPr txBox="1"/>
          <p:nvPr/>
        </p:nvSpPr>
        <p:spPr>
          <a:xfrm>
            <a:off x="4676775" y="2757487"/>
            <a:ext cx="30405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Precise Mapping</a:t>
            </a:r>
            <a:endParaRPr/>
          </a:p>
        </p:txBody>
      </p:sp>
      <p:sp>
        <p:nvSpPr>
          <p:cNvPr id="174" name="Google Shape;174;p18"/>
          <p:cNvSpPr txBox="1"/>
          <p:nvPr/>
        </p:nvSpPr>
        <p:spPr>
          <a:xfrm>
            <a:off x="4676775" y="3414712"/>
            <a:ext cx="2895600" cy="1454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Expander:</a:t>
            </a:r>
            <a:r>
              <a:rPr b="0" i="0" lang="en-US" sz="1350" u="none" cap="none" strike="noStrike">
                <a:solidFill>
                  <a:srgbClr val="334155"/>
                </a:solidFill>
                <a:latin typeface="DM Sans"/>
                <a:ea typeface="DM Sans"/>
                <a:cs typeface="DM Sans"/>
                <a:sym typeface="DM Sans"/>
              </a:rPr>
              <a:t> Reduced randomness ensures that the biological mechanisms and experimental steps remain grounded in science and logical sequences.</a:t>
            </a:r>
            <a:endParaRPr/>
          </a:p>
        </p:txBody>
      </p:sp>
      <p:sp>
        <p:nvSpPr>
          <p:cNvPr id="175" name="Google Shape;175;p18"/>
          <p:cNvSpPr txBox="1"/>
          <p:nvPr/>
        </p:nvSpPr>
        <p:spPr>
          <a:xfrm>
            <a:off x="8439150" y="2757487"/>
            <a:ext cx="30405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Strict Review</a:t>
            </a:r>
            <a:endParaRPr/>
          </a:p>
        </p:txBody>
      </p:sp>
      <p:sp>
        <p:nvSpPr>
          <p:cNvPr id="176" name="Google Shape;176;p18"/>
          <p:cNvSpPr txBox="1"/>
          <p:nvPr/>
        </p:nvSpPr>
        <p:spPr>
          <a:xfrm>
            <a:off x="8439150" y="3414712"/>
            <a:ext cx="2895600" cy="1454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Critic:</a:t>
            </a:r>
            <a:r>
              <a:rPr b="0" i="0" lang="en-US" sz="1350" u="none" cap="none" strike="noStrike">
                <a:solidFill>
                  <a:srgbClr val="334155"/>
                </a:solidFill>
                <a:latin typeface="DM Sans"/>
                <a:ea typeface="DM Sans"/>
                <a:cs typeface="DM Sans"/>
                <a:sym typeface="DM Sans"/>
              </a:rPr>
              <a:t> Deterministic setting ensures maximum logical consistency and severe scrutiny, acting as a filter against hallucinated scientific claims.</a:t>
            </a:r>
            <a:endParaRPr/>
          </a:p>
        </p:txBody>
      </p:sp>
      <p:sp>
        <p:nvSpPr>
          <p:cNvPr id="177" name="Google Shape;177;p1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Temperature Strategy: The Funnel</a:t>
            </a:r>
            <a:endParaRPr/>
          </a:p>
        </p:txBody>
      </p:sp>
      <p:sp>
        <p:nvSpPr>
          <p:cNvPr id="178" name="Google Shape;178;p18"/>
          <p:cNvSpPr/>
          <p:nvPr/>
        </p:nvSpPr>
        <p:spPr>
          <a:xfrm>
            <a:off x="571500" y="1238250"/>
            <a:ext cx="11049000" cy="2850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82" name="Shape 182"/>
        <p:cNvGrpSpPr/>
        <p:nvPr/>
      </p:nvGrpSpPr>
      <p:grpSpPr>
        <a:xfrm>
          <a:off x="0" y="0"/>
          <a:ext cx="0" cy="0"/>
          <a:chOff x="0" y="0"/>
          <a:chExt cx="0" cy="0"/>
        </a:xfrm>
      </p:grpSpPr>
      <p:pic>
        <p:nvPicPr>
          <p:cNvPr descr="image.png" id="183" name="Google Shape;183;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4" name="Google Shape;184;p19"/>
          <p:cNvSpPr txBox="1"/>
          <p:nvPr/>
        </p:nvSpPr>
        <p:spPr>
          <a:xfrm>
            <a:off x="571500" y="571500"/>
            <a:ext cx="11106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Case 1: Sleep</a:t>
            </a:r>
            <a:r>
              <a:rPr b="1" lang="en-US" sz="3600">
                <a:solidFill>
                  <a:srgbClr val="005088"/>
                </a:solidFill>
                <a:latin typeface="Merriweather"/>
                <a:ea typeface="Merriweather"/>
                <a:cs typeface="Merriweather"/>
                <a:sym typeface="Merriweather"/>
              </a:rPr>
              <a:t> </a:t>
            </a:r>
            <a:r>
              <a:rPr b="1" i="0" lang="en-US" sz="3600" u="none" cap="none" strike="noStrike">
                <a:solidFill>
                  <a:srgbClr val="005088"/>
                </a:solidFill>
                <a:latin typeface="Merriweather"/>
                <a:ea typeface="Merriweather"/>
                <a:cs typeface="Merriweather"/>
                <a:sym typeface="Merriweather"/>
              </a:rPr>
              <a:t>Deprivation </a:t>
            </a:r>
            <a:r>
              <a:rPr b="1" lang="en-US" sz="3600">
                <a:solidFill>
                  <a:srgbClr val="005088"/>
                </a:solidFill>
                <a:latin typeface="Merriweather"/>
                <a:ea typeface="Merriweather"/>
                <a:cs typeface="Merriweather"/>
                <a:sym typeface="Merriweather"/>
              </a:rPr>
              <a:t>and</a:t>
            </a:r>
            <a:r>
              <a:rPr b="1" i="0" lang="en-US" sz="3600" u="none" cap="none" strike="noStrike">
                <a:solidFill>
                  <a:srgbClr val="005088"/>
                </a:solidFill>
                <a:latin typeface="Merriweather"/>
                <a:ea typeface="Merriweather"/>
                <a:cs typeface="Merriweather"/>
                <a:sym typeface="Merriweather"/>
              </a:rPr>
              <a:t> Natural Kill</a:t>
            </a:r>
            <a:r>
              <a:rPr b="1" lang="en-US" sz="3600">
                <a:solidFill>
                  <a:srgbClr val="005088"/>
                </a:solidFill>
                <a:latin typeface="Merriweather"/>
                <a:ea typeface="Merriweather"/>
                <a:cs typeface="Merriweather"/>
                <a:sym typeface="Merriweather"/>
              </a:rPr>
              <a:t>er Cells</a:t>
            </a:r>
            <a:endParaRPr/>
          </a:p>
        </p:txBody>
      </p:sp>
      <p:sp>
        <p:nvSpPr>
          <p:cNvPr id="185" name="Google Shape;185;p19"/>
          <p:cNvSpPr txBox="1"/>
          <p:nvPr/>
        </p:nvSpPr>
        <p:spPr>
          <a:xfrm>
            <a:off x="643125" y="1524550"/>
            <a:ext cx="495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Pathway: </a:t>
            </a:r>
            <a:endParaRPr b="1" sz="2100">
              <a:solidFill>
                <a:srgbClr val="005088"/>
              </a:solidFill>
              <a:latin typeface="Merriweather"/>
              <a:ea typeface="Merriweather"/>
              <a:cs typeface="Merriweather"/>
              <a:sym typeface="Merriweather"/>
            </a:endParaRPr>
          </a:p>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p:txBody>
      </p:sp>
      <p:sp>
        <p:nvSpPr>
          <p:cNvPr id="186" name="Google Shape;186;p19"/>
          <p:cNvSpPr txBox="1"/>
          <p:nvPr/>
        </p:nvSpPr>
        <p:spPr>
          <a:xfrm>
            <a:off x="6408850" y="2754650"/>
            <a:ext cx="47148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187" name="Google Shape;187;p19"/>
          <p:cNvSpPr txBox="1"/>
          <p:nvPr/>
        </p:nvSpPr>
        <p:spPr>
          <a:xfrm>
            <a:off x="571500" y="5326700"/>
            <a:ext cx="47148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pic>
        <p:nvPicPr>
          <p:cNvPr descr="image.png" id="188" name="Google Shape;188;p19"/>
          <p:cNvPicPr preferRelativeResize="0"/>
          <p:nvPr/>
        </p:nvPicPr>
        <p:blipFill rotWithShape="1">
          <a:blip r:embed="rId4">
            <a:alphaModFix/>
          </a:blip>
          <a:srcRect b="0" l="0" r="0" t="0"/>
          <a:stretch/>
        </p:blipFill>
        <p:spPr>
          <a:xfrm>
            <a:off x="643113" y="2171712"/>
            <a:ext cx="5381625" cy="2514600"/>
          </a:xfrm>
          <a:prstGeom prst="rect">
            <a:avLst/>
          </a:prstGeom>
          <a:noFill/>
          <a:ln>
            <a:noFill/>
          </a:ln>
        </p:spPr>
      </p:pic>
      <p:sp>
        <p:nvSpPr>
          <p:cNvPr id="189" name="Google Shape;189;p19"/>
          <p:cNvSpPr txBox="1"/>
          <p:nvPr/>
        </p:nvSpPr>
        <p:spPr>
          <a:xfrm>
            <a:off x="643086" y="2205300"/>
            <a:ext cx="53817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                                </a:t>
            </a:r>
            <a:r>
              <a:rPr lang="en-US" sz="2100">
                <a:solidFill>
                  <a:schemeClr val="dk1"/>
                </a:solidFill>
                <a:latin typeface="DM Sans"/>
                <a:ea typeface="DM Sans"/>
                <a:cs typeface="DM Sans"/>
                <a:sym typeface="DM Sans"/>
              </a:rPr>
              <a:t>Sleep Deprivation</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US" sz="2100">
                <a:solidFill>
                  <a:schemeClr val="dk1"/>
                </a:solidFill>
                <a:latin typeface="DM Sans"/>
                <a:ea typeface="DM Sans"/>
                <a:cs typeface="DM Sans"/>
                <a:sym typeface="DM Sans"/>
              </a:rPr>
              <a:t>                                           ↓</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US" sz="2100">
                <a:solidFill>
                  <a:schemeClr val="dk1"/>
                </a:solidFill>
                <a:latin typeface="DM Sans"/>
                <a:ea typeface="DM Sans"/>
                <a:cs typeface="DM Sans"/>
                <a:sym typeface="DM Sans"/>
              </a:rPr>
              <a:t>                   Sympathetic Nervous System</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US" sz="2100">
                <a:solidFill>
                  <a:schemeClr val="dk1"/>
                </a:solidFill>
                <a:latin typeface="DM Sans"/>
                <a:ea typeface="DM Sans"/>
                <a:cs typeface="DM Sans"/>
                <a:sym typeface="DM Sans"/>
              </a:rPr>
              <a:t>                                           ↓</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US" sz="2100">
                <a:solidFill>
                  <a:schemeClr val="dk1"/>
                </a:solidFill>
                <a:latin typeface="DM Sans"/>
                <a:ea typeface="DM Sans"/>
                <a:cs typeface="DM Sans"/>
                <a:sym typeface="DM Sans"/>
              </a:rPr>
              <a:t>                              Norepinephrine</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US" sz="2100">
                <a:solidFill>
                  <a:schemeClr val="dk1"/>
                </a:solidFill>
                <a:latin typeface="DM Sans"/>
                <a:ea typeface="DM Sans"/>
                <a:cs typeface="DM Sans"/>
                <a:sym typeface="DM Sans"/>
              </a:rPr>
              <a:t>                                           ↓</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US" sz="2100">
                <a:solidFill>
                  <a:schemeClr val="dk1"/>
                </a:solidFill>
                <a:latin typeface="DM Sans"/>
                <a:ea typeface="DM Sans"/>
                <a:cs typeface="DM Sans"/>
                <a:sym typeface="DM Sans"/>
              </a:rPr>
              <a:t>                           Natural Killer Cells </a:t>
            </a:r>
            <a:endParaRPr>
              <a:solidFill>
                <a:schemeClr val="dk1"/>
              </a:solidFill>
              <a:latin typeface="DM Sans"/>
              <a:ea typeface="DM Sans"/>
              <a:cs typeface="DM Sans"/>
              <a:sym typeface="DM Sans"/>
            </a:endParaRPr>
          </a:p>
        </p:txBody>
      </p:sp>
      <p:pic>
        <p:nvPicPr>
          <p:cNvPr descr="image.png" id="190" name="Google Shape;190;p19"/>
          <p:cNvPicPr preferRelativeResize="0"/>
          <p:nvPr/>
        </p:nvPicPr>
        <p:blipFill rotWithShape="1">
          <a:blip r:embed="rId4">
            <a:alphaModFix/>
          </a:blip>
          <a:srcRect b="0" l="0" r="0" t="0"/>
          <a:stretch/>
        </p:blipFill>
        <p:spPr>
          <a:xfrm>
            <a:off x="6296775" y="2171712"/>
            <a:ext cx="5381625" cy="2514600"/>
          </a:xfrm>
          <a:prstGeom prst="rect">
            <a:avLst/>
          </a:prstGeom>
          <a:noFill/>
          <a:ln>
            <a:noFill/>
          </a:ln>
        </p:spPr>
      </p:pic>
      <p:sp>
        <p:nvSpPr>
          <p:cNvPr id="191" name="Google Shape;191;p19"/>
          <p:cNvSpPr txBox="1"/>
          <p:nvPr/>
        </p:nvSpPr>
        <p:spPr>
          <a:xfrm>
            <a:off x="6408850" y="2228400"/>
            <a:ext cx="5269500" cy="24012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0"/>
              </a:spcBef>
              <a:spcAft>
                <a:spcPts val="0"/>
              </a:spcAft>
              <a:buNone/>
            </a:pPr>
            <a:r>
              <a:rPr lang="en-US" sz="1600">
                <a:solidFill>
                  <a:srgbClr val="334155"/>
                </a:solidFill>
                <a:latin typeface="DM Sans"/>
                <a:ea typeface="DM Sans"/>
                <a:cs typeface="DM Sans"/>
                <a:sym typeface="DM Sans"/>
              </a:rPr>
              <a:t>Hypothesis: Chronic sleep deprivation may cause long-term impairment of Natural Killer (NK) cells through sustained norepinephrine signaling, potentially creating an epigenetic “memory” that reduces immune surveillance even after sleep recovery. </a:t>
            </a:r>
            <a:endParaRPr sz="1500"/>
          </a:p>
        </p:txBody>
      </p:sp>
      <p:sp>
        <p:nvSpPr>
          <p:cNvPr id="192" name="Google Shape;192;p19"/>
          <p:cNvSpPr txBox="1"/>
          <p:nvPr/>
        </p:nvSpPr>
        <p:spPr>
          <a:xfrm>
            <a:off x="6296775" y="1394700"/>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Hypothesis</a:t>
            </a:r>
            <a:r>
              <a:rPr b="1" lang="en-US" sz="2100">
                <a:solidFill>
                  <a:srgbClr val="005088"/>
                </a:solidFill>
                <a:latin typeface="Merriweather"/>
                <a:ea typeface="Merriweather"/>
                <a:cs typeface="Merriweather"/>
                <a:sym typeface="Merriweather"/>
              </a:rPr>
              <a:t>: </a:t>
            </a:r>
            <a:endParaRPr/>
          </a:p>
        </p:txBody>
      </p:sp>
      <p:sp>
        <p:nvSpPr>
          <p:cNvPr id="193" name="Google Shape;193;p19"/>
          <p:cNvSpPr txBox="1"/>
          <p:nvPr/>
        </p:nvSpPr>
        <p:spPr>
          <a:xfrm>
            <a:off x="571500" y="4895600"/>
            <a:ext cx="495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Evaluation</a:t>
            </a: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p:txBody>
      </p:sp>
      <p:pic>
        <p:nvPicPr>
          <p:cNvPr descr="image.png" id="194" name="Google Shape;194;p19"/>
          <p:cNvPicPr preferRelativeResize="0"/>
          <p:nvPr/>
        </p:nvPicPr>
        <p:blipFill rotWithShape="1">
          <a:blip r:embed="rId4">
            <a:alphaModFix/>
          </a:blip>
          <a:srcRect b="0" l="0" r="0" t="0"/>
          <a:stretch/>
        </p:blipFill>
        <p:spPr>
          <a:xfrm>
            <a:off x="571500" y="5326700"/>
            <a:ext cx="11106900" cy="1549125"/>
          </a:xfrm>
          <a:prstGeom prst="rect">
            <a:avLst/>
          </a:prstGeom>
          <a:noFill/>
          <a:ln>
            <a:noFill/>
          </a:ln>
        </p:spPr>
      </p:pic>
      <p:sp>
        <p:nvSpPr>
          <p:cNvPr id="195" name="Google Shape;195;p19"/>
          <p:cNvSpPr txBox="1"/>
          <p:nvPr/>
        </p:nvSpPr>
        <p:spPr>
          <a:xfrm>
            <a:off x="877400" y="542550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t>Plausibility: Partially </a:t>
            </a:r>
            <a:endParaRPr sz="2100"/>
          </a:p>
          <a:p>
            <a:pPr indent="0" lvl="0" marL="0" rtl="0" algn="l">
              <a:spcBef>
                <a:spcPts val="0"/>
              </a:spcBef>
              <a:spcAft>
                <a:spcPts val="0"/>
              </a:spcAft>
              <a:buNone/>
            </a:pPr>
            <a:r>
              <a:rPr lang="en-US" sz="2100"/>
              <a:t>Non-obvious: Maybe </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99" name="Shape 199"/>
        <p:cNvGrpSpPr/>
        <p:nvPr/>
      </p:nvGrpSpPr>
      <p:grpSpPr>
        <a:xfrm>
          <a:off x="0" y="0"/>
          <a:ext cx="0" cy="0"/>
          <a:chOff x="0" y="0"/>
          <a:chExt cx="0" cy="0"/>
        </a:xfrm>
      </p:grpSpPr>
      <p:pic>
        <p:nvPicPr>
          <p:cNvPr descr="image.png" id="200" name="Google Shape;20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1" name="Google Shape;201;p20"/>
          <p:cNvPicPr preferRelativeResize="0"/>
          <p:nvPr/>
        </p:nvPicPr>
        <p:blipFill rotWithShape="1">
          <a:blip r:embed="rId4">
            <a:alphaModFix/>
          </a:blip>
          <a:srcRect b="0" l="0" r="0" t="0"/>
          <a:stretch/>
        </p:blipFill>
        <p:spPr>
          <a:xfrm>
            <a:off x="498038" y="2022625"/>
            <a:ext cx="5381625" cy="4278100"/>
          </a:xfrm>
          <a:prstGeom prst="rect">
            <a:avLst/>
          </a:prstGeom>
          <a:noFill/>
          <a:ln>
            <a:noFill/>
          </a:ln>
        </p:spPr>
      </p:pic>
      <p:pic>
        <p:nvPicPr>
          <p:cNvPr descr="image.png" id="202" name="Google Shape;202;p20"/>
          <p:cNvPicPr preferRelativeResize="0"/>
          <p:nvPr/>
        </p:nvPicPr>
        <p:blipFill rotWithShape="1">
          <a:blip r:embed="rId4">
            <a:alphaModFix/>
          </a:blip>
          <a:srcRect b="0" l="0" r="0" t="0"/>
          <a:stretch/>
        </p:blipFill>
        <p:spPr>
          <a:xfrm>
            <a:off x="6238863" y="2022637"/>
            <a:ext cx="5381625" cy="2514600"/>
          </a:xfrm>
          <a:prstGeom prst="rect">
            <a:avLst/>
          </a:prstGeom>
          <a:noFill/>
          <a:ln>
            <a:noFill/>
          </a:ln>
        </p:spPr>
      </p:pic>
      <p:sp>
        <p:nvSpPr>
          <p:cNvPr id="203" name="Google Shape;203;p20"/>
          <p:cNvSpPr txBox="1"/>
          <p:nvPr/>
        </p:nvSpPr>
        <p:spPr>
          <a:xfrm>
            <a:off x="571500" y="6229337"/>
            <a:ext cx="110490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04" name="Google Shape;204;p20"/>
          <p:cNvSpPr txBox="1"/>
          <p:nvPr/>
        </p:nvSpPr>
        <p:spPr>
          <a:xfrm>
            <a:off x="914400" y="2605087"/>
            <a:ext cx="49905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5" name="Google Shape;205;p20"/>
          <p:cNvSpPr txBox="1"/>
          <p:nvPr/>
        </p:nvSpPr>
        <p:spPr>
          <a:xfrm>
            <a:off x="571500" y="2163375"/>
            <a:ext cx="5234700" cy="39252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REM Sleep Disruption</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Circadian Desynchronization</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Neurotransmitter Changes</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Microglial Clock Genes</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Epigenetic Remodeling</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marR="0" rtl="0" algn="l">
              <a:lnSpc>
                <a:spcPct val="160000"/>
              </a:lnSpc>
              <a:spcBef>
                <a:spcPts val="0"/>
              </a:spcBef>
              <a:spcAft>
                <a:spcPts val="0"/>
              </a:spcAft>
              <a:buNone/>
            </a:pPr>
            <a:r>
              <a:rPr lang="en-US" sz="1500">
                <a:solidFill>
                  <a:srgbClr val="334155"/>
                </a:solidFill>
                <a:latin typeface="DM Sans"/>
                <a:ea typeface="DM Sans"/>
                <a:cs typeface="DM Sans"/>
                <a:sym typeface="DM Sans"/>
              </a:rPr>
              <a:t>                            Microglial Activation </a:t>
            </a:r>
            <a:endParaRPr sz="1500">
              <a:solidFill>
                <a:srgbClr val="334155"/>
              </a:solidFill>
              <a:latin typeface="DM Sans"/>
              <a:ea typeface="DM Sans"/>
              <a:cs typeface="DM Sans"/>
              <a:sym typeface="DM Sans"/>
            </a:endParaRPr>
          </a:p>
        </p:txBody>
      </p:sp>
      <p:sp>
        <p:nvSpPr>
          <p:cNvPr id="206" name="Google Shape;206;p20"/>
          <p:cNvSpPr txBox="1"/>
          <p:nvPr/>
        </p:nvSpPr>
        <p:spPr>
          <a:xfrm>
            <a:off x="6581775" y="2605087"/>
            <a:ext cx="49905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7" name="Google Shape;207;p20"/>
          <p:cNvSpPr txBox="1"/>
          <p:nvPr/>
        </p:nvSpPr>
        <p:spPr>
          <a:xfrm>
            <a:off x="6356263" y="2163387"/>
            <a:ext cx="4752900" cy="2164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900">
                <a:solidFill>
                  <a:srgbClr val="334155"/>
                </a:solidFill>
                <a:latin typeface="DM Sans"/>
                <a:ea typeface="DM Sans"/>
                <a:cs typeface="DM Sans"/>
                <a:sym typeface="DM Sans"/>
              </a:rPr>
              <a:t>Chronic REM sleep disruption may reprogram microglial circadian clock genes, creating a persistent pro-inflammatory state that contributes to neurodegeneration. </a:t>
            </a:r>
            <a:endParaRPr sz="2000"/>
          </a:p>
        </p:txBody>
      </p:sp>
      <p:sp>
        <p:nvSpPr>
          <p:cNvPr id="208" name="Google Shape;208;p20"/>
          <p:cNvSpPr txBox="1"/>
          <p:nvPr/>
        </p:nvSpPr>
        <p:spPr>
          <a:xfrm>
            <a:off x="571500" y="571500"/>
            <a:ext cx="116016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05088"/>
                </a:solidFill>
                <a:latin typeface="Merriweather"/>
                <a:ea typeface="Merriweather"/>
                <a:cs typeface="Merriweather"/>
                <a:sym typeface="Merriweather"/>
              </a:rPr>
              <a:t>Case 2: </a:t>
            </a:r>
            <a:r>
              <a:rPr b="1" lang="en-US" sz="3300">
                <a:solidFill>
                  <a:srgbClr val="005088"/>
                </a:solidFill>
                <a:latin typeface="Merriweather"/>
                <a:ea typeface="Merriweather"/>
                <a:cs typeface="Merriweather"/>
                <a:sym typeface="Merriweather"/>
              </a:rPr>
              <a:t>REM Sleep Disruption and Microglial Activation </a:t>
            </a:r>
            <a:endParaRPr sz="1100"/>
          </a:p>
        </p:txBody>
      </p:sp>
      <p:sp>
        <p:nvSpPr>
          <p:cNvPr id="209" name="Google Shape;209;p20"/>
          <p:cNvSpPr/>
          <p:nvPr/>
        </p:nvSpPr>
        <p:spPr>
          <a:xfrm>
            <a:off x="571500" y="1238250"/>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txBox="1"/>
          <p:nvPr/>
        </p:nvSpPr>
        <p:spPr>
          <a:xfrm>
            <a:off x="571500" y="1376113"/>
            <a:ext cx="495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Pathway: </a:t>
            </a:r>
            <a:endParaRPr b="1" sz="2100">
              <a:solidFill>
                <a:srgbClr val="005088"/>
              </a:solidFill>
              <a:latin typeface="Merriweather"/>
              <a:ea typeface="Merriweather"/>
              <a:cs typeface="Merriweather"/>
              <a:sym typeface="Merriweather"/>
            </a:endParaRPr>
          </a:p>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p:txBody>
      </p:sp>
      <p:sp>
        <p:nvSpPr>
          <p:cNvPr id="211" name="Google Shape;211;p20"/>
          <p:cNvSpPr txBox="1"/>
          <p:nvPr/>
        </p:nvSpPr>
        <p:spPr>
          <a:xfrm>
            <a:off x="6238875" y="12668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Hypothesis: </a:t>
            </a:r>
            <a:endParaRPr/>
          </a:p>
        </p:txBody>
      </p:sp>
      <p:sp>
        <p:nvSpPr>
          <p:cNvPr id="212" name="Google Shape;212;p20"/>
          <p:cNvSpPr txBox="1"/>
          <p:nvPr/>
        </p:nvSpPr>
        <p:spPr>
          <a:xfrm>
            <a:off x="6257425" y="4537225"/>
            <a:ext cx="495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Evaluation: </a:t>
            </a:r>
            <a:endParaRPr b="1" sz="2100">
              <a:solidFill>
                <a:srgbClr val="005088"/>
              </a:solidFill>
              <a:latin typeface="Merriweather"/>
              <a:ea typeface="Merriweather"/>
              <a:cs typeface="Merriweather"/>
              <a:sym typeface="Merriweather"/>
            </a:endParaRPr>
          </a:p>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p:txBody>
      </p:sp>
      <p:pic>
        <p:nvPicPr>
          <p:cNvPr descr="image.png" id="213" name="Google Shape;213;p20"/>
          <p:cNvPicPr preferRelativeResize="0"/>
          <p:nvPr/>
        </p:nvPicPr>
        <p:blipFill rotWithShape="1">
          <a:blip r:embed="rId4">
            <a:alphaModFix/>
          </a:blip>
          <a:srcRect b="0" l="0" r="0" t="0"/>
          <a:stretch/>
        </p:blipFill>
        <p:spPr>
          <a:xfrm>
            <a:off x="6238875" y="4901343"/>
            <a:ext cx="5381625" cy="1399387"/>
          </a:xfrm>
          <a:prstGeom prst="rect">
            <a:avLst/>
          </a:prstGeom>
          <a:noFill/>
          <a:ln>
            <a:noFill/>
          </a:ln>
        </p:spPr>
      </p:pic>
      <p:sp>
        <p:nvSpPr>
          <p:cNvPr id="214" name="Google Shape;214;p20"/>
          <p:cNvSpPr txBox="1"/>
          <p:nvPr/>
        </p:nvSpPr>
        <p:spPr>
          <a:xfrm>
            <a:off x="6356275" y="501370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Plausibility: Yes</a:t>
            </a:r>
            <a:endParaRPr sz="1800"/>
          </a:p>
          <a:p>
            <a:pPr indent="0" lvl="0" marL="0" rtl="0" algn="l">
              <a:spcBef>
                <a:spcPts val="0"/>
              </a:spcBef>
              <a:spcAft>
                <a:spcPts val="0"/>
              </a:spcAft>
              <a:buNone/>
            </a:pPr>
            <a:r>
              <a:rPr lang="en-US" sz="1800"/>
              <a:t>Non-obvious: Yes</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18" name="Shape 218"/>
        <p:cNvGrpSpPr/>
        <p:nvPr/>
      </p:nvGrpSpPr>
      <p:grpSpPr>
        <a:xfrm>
          <a:off x="0" y="0"/>
          <a:ext cx="0" cy="0"/>
          <a:chOff x="0" y="0"/>
          <a:chExt cx="0" cy="0"/>
        </a:xfrm>
      </p:grpSpPr>
      <p:pic>
        <p:nvPicPr>
          <p:cNvPr descr="image.png" id="219" name="Google Shape;219;p21"/>
          <p:cNvPicPr preferRelativeResize="0"/>
          <p:nvPr/>
        </p:nvPicPr>
        <p:blipFill rotWithShape="1">
          <a:blip r:embed="rId3">
            <a:alphaModFix/>
          </a:blip>
          <a:srcRect b="0" l="0" r="0" t="0"/>
          <a:stretch/>
        </p:blipFill>
        <p:spPr>
          <a:xfrm>
            <a:off x="0" y="-20900"/>
            <a:ext cx="12192000" cy="6858000"/>
          </a:xfrm>
          <a:prstGeom prst="rect">
            <a:avLst/>
          </a:prstGeom>
          <a:noFill/>
          <a:ln>
            <a:noFill/>
          </a:ln>
        </p:spPr>
      </p:pic>
      <p:sp>
        <p:nvSpPr>
          <p:cNvPr id="220" name="Google Shape;220;p21"/>
          <p:cNvSpPr txBox="1"/>
          <p:nvPr/>
        </p:nvSpPr>
        <p:spPr>
          <a:xfrm>
            <a:off x="571500" y="2767012"/>
            <a:ext cx="5500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21" name="Google Shape;221;p21"/>
          <p:cNvSpPr txBox="1"/>
          <p:nvPr/>
        </p:nvSpPr>
        <p:spPr>
          <a:xfrm>
            <a:off x="571500" y="3300412"/>
            <a:ext cx="52389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22" name="Google Shape;222;p21"/>
          <p:cNvSpPr txBox="1"/>
          <p:nvPr/>
        </p:nvSpPr>
        <p:spPr>
          <a:xfrm>
            <a:off x="6381750" y="3357562"/>
            <a:ext cx="52389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23" name="Google Shape;223;p21"/>
          <p:cNvSpPr txBox="1"/>
          <p:nvPr/>
        </p:nvSpPr>
        <p:spPr>
          <a:xfrm>
            <a:off x="857250" y="4100512"/>
            <a:ext cx="95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24" name="Google Shape;224;p2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Case 3: </a:t>
            </a:r>
            <a:r>
              <a:rPr b="1" lang="en-US" sz="3600">
                <a:solidFill>
                  <a:srgbClr val="005088"/>
                </a:solidFill>
                <a:latin typeface="Merriweather"/>
                <a:ea typeface="Merriweather"/>
                <a:cs typeface="Merriweather"/>
                <a:sym typeface="Merriweather"/>
              </a:rPr>
              <a:t>Glymphatic System and Dendritic Cells </a:t>
            </a:r>
            <a:endParaRPr/>
          </a:p>
        </p:txBody>
      </p:sp>
      <p:sp>
        <p:nvSpPr>
          <p:cNvPr id="225" name="Google Shape;225;p21"/>
          <p:cNvSpPr/>
          <p:nvPr/>
        </p:nvSpPr>
        <p:spPr>
          <a:xfrm>
            <a:off x="571500" y="1238250"/>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1"/>
          <p:cNvSpPr txBox="1"/>
          <p:nvPr/>
        </p:nvSpPr>
        <p:spPr>
          <a:xfrm>
            <a:off x="571500" y="1376113"/>
            <a:ext cx="495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Pathway: </a:t>
            </a:r>
            <a:endParaRPr b="1" sz="2100">
              <a:solidFill>
                <a:srgbClr val="005088"/>
              </a:solidFill>
              <a:latin typeface="Merriweather"/>
              <a:ea typeface="Merriweather"/>
              <a:cs typeface="Merriweather"/>
              <a:sym typeface="Merriweather"/>
            </a:endParaRPr>
          </a:p>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p:txBody>
      </p:sp>
      <p:pic>
        <p:nvPicPr>
          <p:cNvPr descr="image.png" id="227" name="Google Shape;227;p21"/>
          <p:cNvPicPr preferRelativeResize="0"/>
          <p:nvPr/>
        </p:nvPicPr>
        <p:blipFill rotWithShape="1">
          <a:blip r:embed="rId4">
            <a:alphaModFix/>
          </a:blip>
          <a:srcRect b="0" l="0" r="0" t="0"/>
          <a:stretch/>
        </p:blipFill>
        <p:spPr>
          <a:xfrm>
            <a:off x="631100" y="1801290"/>
            <a:ext cx="5381625" cy="4663800"/>
          </a:xfrm>
          <a:prstGeom prst="rect">
            <a:avLst/>
          </a:prstGeom>
          <a:noFill/>
          <a:ln>
            <a:noFill/>
          </a:ln>
        </p:spPr>
      </p:pic>
      <p:sp>
        <p:nvSpPr>
          <p:cNvPr id="228" name="Google Shape;228;p21"/>
          <p:cNvSpPr txBox="1"/>
          <p:nvPr/>
        </p:nvSpPr>
        <p:spPr>
          <a:xfrm>
            <a:off x="6238875" y="12668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Hypothesis: </a:t>
            </a:r>
            <a:endParaRPr/>
          </a:p>
        </p:txBody>
      </p:sp>
      <p:pic>
        <p:nvPicPr>
          <p:cNvPr descr="image.png" id="229" name="Google Shape;229;p21"/>
          <p:cNvPicPr preferRelativeResize="0"/>
          <p:nvPr/>
        </p:nvPicPr>
        <p:blipFill rotWithShape="1">
          <a:blip r:embed="rId4">
            <a:alphaModFix/>
          </a:blip>
          <a:srcRect b="0" l="0" r="0" t="0"/>
          <a:stretch/>
        </p:blipFill>
        <p:spPr>
          <a:xfrm>
            <a:off x="6310388" y="1801312"/>
            <a:ext cx="5381625" cy="2514600"/>
          </a:xfrm>
          <a:prstGeom prst="rect">
            <a:avLst/>
          </a:prstGeom>
          <a:noFill/>
          <a:ln>
            <a:noFill/>
          </a:ln>
        </p:spPr>
      </p:pic>
      <p:sp>
        <p:nvSpPr>
          <p:cNvPr id="230" name="Google Shape;230;p21"/>
          <p:cNvSpPr txBox="1"/>
          <p:nvPr/>
        </p:nvSpPr>
        <p:spPr>
          <a:xfrm>
            <a:off x="573600" y="1801300"/>
            <a:ext cx="5234700" cy="46638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SzPts val="1100"/>
              <a:buNone/>
            </a:pPr>
            <a:r>
              <a:rPr lang="en-US" sz="1500">
                <a:solidFill>
                  <a:srgbClr val="334155"/>
                </a:solidFill>
                <a:latin typeface="DM Sans"/>
                <a:ea typeface="DM Sans"/>
                <a:cs typeface="DM Sans"/>
                <a:sym typeface="DM Sans"/>
              </a:rPr>
              <a:t>                         </a:t>
            </a:r>
            <a:r>
              <a:rPr lang="en-US" sz="1500">
                <a:solidFill>
                  <a:srgbClr val="334155"/>
                </a:solidFill>
                <a:latin typeface="DM Sans"/>
                <a:ea typeface="DM Sans"/>
                <a:cs typeface="DM Sans"/>
                <a:sym typeface="DM Sans"/>
              </a:rPr>
              <a:t>Glymphatic Dysfunction</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Oxidative Stress</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NF-kB Activation</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IL-6</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HPA Axis</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Cortisol</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100"/>
              <a:buFont typeface="Arial"/>
              <a:buNone/>
            </a:pPr>
            <a:r>
              <a:rPr lang="en-US" sz="1500">
                <a:solidFill>
                  <a:srgbClr val="334155"/>
                </a:solidFill>
                <a:latin typeface="DM Sans"/>
                <a:ea typeface="DM Sans"/>
                <a:cs typeface="DM Sans"/>
                <a:sym typeface="DM Sans"/>
              </a:rPr>
              <a:t>                                            ↓</a:t>
            </a:r>
            <a:endParaRPr sz="1500">
              <a:solidFill>
                <a:srgbClr val="334155"/>
              </a:solidFill>
              <a:latin typeface="DM Sans"/>
              <a:ea typeface="DM Sans"/>
              <a:cs typeface="DM Sans"/>
              <a:sym typeface="DM Sans"/>
            </a:endParaRPr>
          </a:p>
          <a:p>
            <a:pPr indent="0" lvl="0" marL="0" rtl="0" algn="l">
              <a:lnSpc>
                <a:spcPct val="160000"/>
              </a:lnSpc>
              <a:spcBef>
                <a:spcPts val="0"/>
              </a:spcBef>
              <a:spcAft>
                <a:spcPts val="0"/>
              </a:spcAft>
              <a:buSzPts val="1100"/>
              <a:buNone/>
            </a:pPr>
            <a:r>
              <a:rPr lang="en-US" sz="1500">
                <a:solidFill>
                  <a:srgbClr val="334155"/>
                </a:solidFill>
                <a:latin typeface="DM Sans"/>
                <a:ea typeface="DM Sans"/>
                <a:cs typeface="DM Sans"/>
                <a:sym typeface="DM Sans"/>
              </a:rPr>
              <a:t>                                Dendritic Cells </a:t>
            </a:r>
            <a:endParaRPr sz="1500">
              <a:solidFill>
                <a:srgbClr val="334155"/>
              </a:solidFill>
              <a:latin typeface="DM Sans"/>
              <a:ea typeface="DM Sans"/>
              <a:cs typeface="DM Sans"/>
              <a:sym typeface="DM Sans"/>
            </a:endParaRPr>
          </a:p>
        </p:txBody>
      </p:sp>
      <p:sp>
        <p:nvSpPr>
          <p:cNvPr id="231" name="Google Shape;231;p21"/>
          <p:cNvSpPr txBox="1"/>
          <p:nvPr/>
        </p:nvSpPr>
        <p:spPr>
          <a:xfrm>
            <a:off x="6381738" y="1915962"/>
            <a:ext cx="4752900" cy="2164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900">
                <a:solidFill>
                  <a:srgbClr val="334155"/>
                </a:solidFill>
                <a:latin typeface="DM Sans"/>
                <a:ea typeface="DM Sans"/>
                <a:cs typeface="DM Sans"/>
                <a:sym typeface="DM Sans"/>
              </a:rPr>
              <a:t>Impaired glymphatic clearance may indirectly suppress dendritic cell function through chronic inflammation and cortisol signaling, reducing effective immune responses in the brain. </a:t>
            </a:r>
            <a:endParaRPr sz="2000"/>
          </a:p>
        </p:txBody>
      </p:sp>
      <p:sp>
        <p:nvSpPr>
          <p:cNvPr id="232" name="Google Shape;232;p21"/>
          <p:cNvSpPr txBox="1"/>
          <p:nvPr/>
        </p:nvSpPr>
        <p:spPr>
          <a:xfrm>
            <a:off x="6282900" y="4342475"/>
            <a:ext cx="495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Evaluation: </a:t>
            </a:r>
            <a:endParaRPr b="1" sz="2100">
              <a:solidFill>
                <a:srgbClr val="005088"/>
              </a:solidFill>
              <a:latin typeface="Merriweather"/>
              <a:ea typeface="Merriweather"/>
              <a:cs typeface="Merriweather"/>
              <a:sym typeface="Merriweather"/>
            </a:endParaRPr>
          </a:p>
          <a:p>
            <a:pPr indent="0" lvl="0" marL="0" marR="0" rtl="0" algn="l">
              <a:spcBef>
                <a:spcPts val="0"/>
              </a:spcBef>
              <a:spcAft>
                <a:spcPts val="0"/>
              </a:spcAft>
              <a:buNone/>
            </a:pPr>
            <a:r>
              <a:rPr b="1" lang="en-US" sz="2100">
                <a:solidFill>
                  <a:srgbClr val="005088"/>
                </a:solidFill>
                <a:latin typeface="Merriweather"/>
                <a:ea typeface="Merriweather"/>
                <a:cs typeface="Merriweather"/>
                <a:sym typeface="Merriweather"/>
              </a:rPr>
              <a:t>                       </a:t>
            </a:r>
            <a:endParaRPr b="1" sz="2100">
              <a:solidFill>
                <a:srgbClr val="005088"/>
              </a:solidFill>
              <a:latin typeface="Merriweather"/>
              <a:ea typeface="Merriweather"/>
              <a:cs typeface="Merriweather"/>
              <a:sym typeface="Merriweather"/>
            </a:endParaRPr>
          </a:p>
        </p:txBody>
      </p:sp>
      <p:pic>
        <p:nvPicPr>
          <p:cNvPr descr="image.png" id="233" name="Google Shape;233;p21"/>
          <p:cNvPicPr preferRelativeResize="0"/>
          <p:nvPr/>
        </p:nvPicPr>
        <p:blipFill rotWithShape="1">
          <a:blip r:embed="rId4">
            <a:alphaModFix/>
          </a:blip>
          <a:srcRect b="0" l="0" r="0" t="0"/>
          <a:stretch/>
        </p:blipFill>
        <p:spPr>
          <a:xfrm>
            <a:off x="6310400" y="4850379"/>
            <a:ext cx="5381625" cy="1580200"/>
          </a:xfrm>
          <a:prstGeom prst="rect">
            <a:avLst/>
          </a:prstGeom>
          <a:noFill/>
          <a:ln>
            <a:noFill/>
          </a:ln>
        </p:spPr>
      </p:pic>
      <p:sp>
        <p:nvSpPr>
          <p:cNvPr id="234" name="Google Shape;234;p21"/>
          <p:cNvSpPr txBox="1"/>
          <p:nvPr/>
        </p:nvSpPr>
        <p:spPr>
          <a:xfrm>
            <a:off x="6356275" y="501370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DM Sans"/>
                <a:ea typeface="DM Sans"/>
                <a:cs typeface="DM Sans"/>
                <a:sym typeface="DM Sans"/>
              </a:rPr>
              <a:t>Plausibility: </a:t>
            </a:r>
            <a:r>
              <a:rPr lang="en-US" sz="1800">
                <a:latin typeface="DM Sans"/>
                <a:ea typeface="DM Sans"/>
                <a:cs typeface="DM Sans"/>
                <a:sym typeface="DM Sans"/>
              </a:rPr>
              <a:t>Partially </a:t>
            </a:r>
            <a:endParaRPr sz="1800">
              <a:latin typeface="DM Sans"/>
              <a:ea typeface="DM Sans"/>
              <a:cs typeface="DM Sans"/>
              <a:sym typeface="DM Sans"/>
            </a:endParaRPr>
          </a:p>
          <a:p>
            <a:pPr indent="0" lvl="0" marL="0" rtl="0" algn="l">
              <a:spcBef>
                <a:spcPts val="0"/>
              </a:spcBef>
              <a:spcAft>
                <a:spcPts val="0"/>
              </a:spcAft>
              <a:buNone/>
            </a:pPr>
            <a:r>
              <a:rPr lang="en-US" sz="1800">
                <a:latin typeface="DM Sans"/>
                <a:ea typeface="DM Sans"/>
                <a:cs typeface="DM Sans"/>
                <a:sym typeface="DM Sans"/>
              </a:rPr>
              <a:t>Non-obvious: Yes</a:t>
            </a:r>
            <a:endParaRPr sz="1800">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38" name="Shape 238"/>
        <p:cNvGrpSpPr/>
        <p:nvPr/>
      </p:nvGrpSpPr>
      <p:grpSpPr>
        <a:xfrm>
          <a:off x="0" y="0"/>
          <a:ext cx="0" cy="0"/>
          <a:chOff x="0" y="0"/>
          <a:chExt cx="0" cy="0"/>
        </a:xfrm>
      </p:grpSpPr>
      <p:pic>
        <p:nvPicPr>
          <p:cNvPr descr="image.png" id="239" name="Google Shape;239;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0" name="Google Shape;240;p22"/>
          <p:cNvSpPr txBox="1"/>
          <p:nvPr/>
        </p:nvSpPr>
        <p:spPr>
          <a:xfrm>
            <a:off x="952500" y="2916075"/>
            <a:ext cx="106680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00" u="none" cap="none" strike="noStrike">
                <a:solidFill>
                  <a:srgbClr val="334155"/>
                </a:solidFill>
                <a:latin typeface="DM Sans"/>
                <a:ea typeface="DM Sans"/>
                <a:cs typeface="DM Sans"/>
                <a:sym typeface="DM Sans"/>
              </a:rPr>
              <a:t>The Critic is Essential:</a:t>
            </a:r>
            <a:r>
              <a:rPr b="0" i="0" lang="en-US" sz="1600" u="none" cap="none" strike="noStrike">
                <a:solidFill>
                  <a:srgbClr val="334155"/>
                </a:solidFill>
                <a:latin typeface="DM Sans"/>
                <a:ea typeface="DM Sans"/>
                <a:cs typeface="DM Sans"/>
                <a:sym typeface="DM Sans"/>
              </a:rPr>
              <a:t> While the Generator finds the "Bridge," the Critic prevents pseudo-science by enforcing biological constraints.</a:t>
            </a:r>
            <a:endParaRPr sz="1500"/>
          </a:p>
        </p:txBody>
      </p:sp>
      <p:sp>
        <p:nvSpPr>
          <p:cNvPr id="241" name="Google Shape;241;p22"/>
          <p:cNvSpPr txBox="1"/>
          <p:nvPr/>
        </p:nvSpPr>
        <p:spPr>
          <a:xfrm>
            <a:off x="952500" y="4208525"/>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500"/>
          </a:p>
        </p:txBody>
      </p:sp>
      <p:sp>
        <p:nvSpPr>
          <p:cNvPr id="242" name="Google Shape;242;p22"/>
          <p:cNvSpPr txBox="1"/>
          <p:nvPr/>
        </p:nvSpPr>
        <p:spPr>
          <a:xfrm>
            <a:off x="952500" y="4208562"/>
            <a:ext cx="106680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00" u="none" cap="none" strike="noStrike">
                <a:solidFill>
                  <a:srgbClr val="334155"/>
                </a:solidFill>
                <a:latin typeface="DM Sans"/>
                <a:ea typeface="DM Sans"/>
                <a:cs typeface="DM Sans"/>
                <a:sym typeface="DM Sans"/>
              </a:rPr>
              <a:t>Structural Data:</a:t>
            </a:r>
            <a:r>
              <a:rPr b="0" i="0" lang="en-US" sz="1600" u="none" cap="none" strike="noStrike">
                <a:solidFill>
                  <a:srgbClr val="334155"/>
                </a:solidFill>
                <a:latin typeface="DM Sans"/>
                <a:ea typeface="DM Sans"/>
                <a:cs typeface="DM Sans"/>
                <a:sym typeface="DM Sans"/>
              </a:rPr>
              <a:t> Pydantic schemas were crucial to ensure the multi-agent swarm didn't break during context passing.</a:t>
            </a:r>
            <a:endParaRPr sz="1500"/>
          </a:p>
        </p:txBody>
      </p:sp>
      <p:sp>
        <p:nvSpPr>
          <p:cNvPr id="243" name="Google Shape;243;p22"/>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Lessons &amp; Technical Surprises</a:t>
            </a:r>
            <a:endParaRPr/>
          </a:p>
        </p:txBody>
      </p:sp>
      <p:sp>
        <p:nvSpPr>
          <p:cNvPr id="244" name="Google Shape;244;p22"/>
          <p:cNvSpPr/>
          <p:nvPr/>
        </p:nvSpPr>
        <p:spPr>
          <a:xfrm>
            <a:off x="571500" y="1238250"/>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2"/>
          <p:cNvSpPr txBox="1"/>
          <p:nvPr/>
        </p:nvSpPr>
        <p:spPr>
          <a:xfrm>
            <a:off x="952500" y="2017500"/>
            <a:ext cx="10668000" cy="246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600">
                <a:solidFill>
                  <a:schemeClr val="dk1"/>
                </a:solidFill>
                <a:latin typeface="DM Sans"/>
                <a:ea typeface="DM Sans"/>
                <a:cs typeface="DM Sans"/>
                <a:sym typeface="DM Sans"/>
              </a:rPr>
              <a:t>Graph</a:t>
            </a:r>
            <a:r>
              <a:rPr lang="en-US" sz="1600">
                <a:solidFill>
                  <a:schemeClr val="dk1"/>
                </a:solidFill>
                <a:latin typeface="DM Sans"/>
                <a:ea typeface="DM Sans"/>
                <a:cs typeface="DM Sans"/>
                <a:sym typeface="DM Sans"/>
              </a:rPr>
              <a:t> found connections I wouldn't have made myself, but l</a:t>
            </a:r>
            <a:r>
              <a:rPr lang="en-US" sz="1600">
                <a:solidFill>
                  <a:schemeClr val="dk1"/>
                </a:solidFill>
                <a:latin typeface="DM Sans"/>
                <a:ea typeface="DM Sans"/>
                <a:cs typeface="DM Sans"/>
                <a:sym typeface="DM Sans"/>
              </a:rPr>
              <a:t>onger graph paths were not always better. </a:t>
            </a:r>
            <a:endParaRPr sz="1500">
              <a:solidFill>
                <a:schemeClr val="dk1"/>
              </a:solidFill>
            </a:endParaRPr>
          </a:p>
        </p:txBody>
      </p:sp>
      <p:sp>
        <p:nvSpPr>
          <p:cNvPr id="246" name="Google Shape;246;p22"/>
          <p:cNvSpPr txBox="1"/>
          <p:nvPr/>
        </p:nvSpPr>
        <p:spPr>
          <a:xfrm>
            <a:off x="762000" y="2356537"/>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500">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50" name="Shape 250"/>
        <p:cNvGrpSpPr/>
        <p:nvPr/>
      </p:nvGrpSpPr>
      <p:grpSpPr>
        <a:xfrm>
          <a:off x="0" y="0"/>
          <a:ext cx="0" cy="0"/>
          <a:chOff x="0" y="0"/>
          <a:chExt cx="0" cy="0"/>
        </a:xfrm>
      </p:grpSpPr>
      <p:pic>
        <p:nvPicPr>
          <p:cNvPr descr="image.png" id="251" name="Google Shape;251;p23"/>
          <p:cNvPicPr preferRelativeResize="0"/>
          <p:nvPr/>
        </p:nvPicPr>
        <p:blipFill rotWithShape="1">
          <a:blip r:embed="rId3">
            <a:alphaModFix/>
          </a:blip>
          <a:srcRect b="0" l="0" r="0" t="0"/>
          <a:stretch/>
        </p:blipFill>
        <p:spPr>
          <a:xfrm>
            <a:off x="0" y="100850"/>
            <a:ext cx="12192000" cy="6858000"/>
          </a:xfrm>
          <a:prstGeom prst="rect">
            <a:avLst/>
          </a:prstGeom>
          <a:noFill/>
          <a:ln>
            <a:noFill/>
          </a:ln>
        </p:spPr>
      </p:pic>
      <p:sp>
        <p:nvSpPr>
          <p:cNvPr id="252" name="Google Shape;252;p23"/>
          <p:cNvSpPr txBox="1"/>
          <p:nvPr/>
        </p:nvSpPr>
        <p:spPr>
          <a:xfrm>
            <a:off x="952500" y="2916075"/>
            <a:ext cx="10668000" cy="246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600">
                <a:solidFill>
                  <a:srgbClr val="334155"/>
                </a:solidFill>
                <a:latin typeface="DM Sans"/>
                <a:ea typeface="DM Sans"/>
                <a:cs typeface="DM Sans"/>
                <a:sym typeface="DM Sans"/>
              </a:rPr>
              <a:t>Simplified pipeline: </a:t>
            </a:r>
            <a:r>
              <a:rPr lang="en-US" sz="1600">
                <a:solidFill>
                  <a:srgbClr val="334155"/>
                </a:solidFill>
                <a:latin typeface="DM Sans"/>
                <a:ea typeface="DM Sans"/>
                <a:cs typeface="DM Sans"/>
                <a:sym typeface="DM Sans"/>
              </a:rPr>
              <a:t>Original SciAgents includes more sophisticated in-situ learning </a:t>
            </a:r>
            <a:endParaRPr sz="1500"/>
          </a:p>
        </p:txBody>
      </p:sp>
      <p:sp>
        <p:nvSpPr>
          <p:cNvPr id="253" name="Google Shape;253;p23"/>
          <p:cNvSpPr txBox="1"/>
          <p:nvPr/>
        </p:nvSpPr>
        <p:spPr>
          <a:xfrm>
            <a:off x="952500" y="4722250"/>
            <a:ext cx="106680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00" u="none" cap="none" strike="noStrike">
                <a:solidFill>
                  <a:srgbClr val="334155"/>
                </a:solidFill>
                <a:latin typeface="DM Sans"/>
                <a:ea typeface="DM Sans"/>
                <a:cs typeface="DM Sans"/>
                <a:sym typeface="DM Sans"/>
              </a:rPr>
              <a:t>LLM Hallucination:</a:t>
            </a:r>
            <a:r>
              <a:rPr b="0" i="0" lang="en-US" sz="1600" u="none" cap="none" strike="noStrike">
                <a:solidFill>
                  <a:srgbClr val="334155"/>
                </a:solidFill>
                <a:latin typeface="DM Sans"/>
                <a:ea typeface="DM Sans"/>
                <a:cs typeface="DM Sans"/>
                <a:sym typeface="DM Sans"/>
              </a:rPr>
              <a:t> Agents sometimes assumed direct linear pathways where biology has complex feedback loops; human oversight is still key.</a:t>
            </a:r>
            <a:endParaRPr sz="1500"/>
          </a:p>
        </p:txBody>
      </p:sp>
      <p:sp>
        <p:nvSpPr>
          <p:cNvPr id="254" name="Google Shape;254;p23"/>
          <p:cNvSpPr txBox="1"/>
          <p:nvPr/>
        </p:nvSpPr>
        <p:spPr>
          <a:xfrm>
            <a:off x="952500" y="5362462"/>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500"/>
          </a:p>
        </p:txBody>
      </p:sp>
      <p:sp>
        <p:nvSpPr>
          <p:cNvPr id="255" name="Google Shape;255;p2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dk2"/>
                </a:solidFill>
                <a:latin typeface="Merriweather"/>
                <a:ea typeface="Merriweather"/>
                <a:cs typeface="Merriweather"/>
                <a:sym typeface="Merriweather"/>
              </a:rPr>
              <a:t>Limitations &amp; Future Work </a:t>
            </a:r>
            <a:endParaRPr b="1" sz="3600">
              <a:solidFill>
                <a:schemeClr val="dk2"/>
              </a:solidFill>
              <a:latin typeface="Merriweather"/>
              <a:ea typeface="Merriweather"/>
              <a:cs typeface="Merriweather"/>
              <a:sym typeface="Merriweather"/>
            </a:endParaRPr>
          </a:p>
        </p:txBody>
      </p:sp>
      <p:sp>
        <p:nvSpPr>
          <p:cNvPr id="256" name="Google Shape;256;p23"/>
          <p:cNvSpPr/>
          <p:nvPr/>
        </p:nvSpPr>
        <p:spPr>
          <a:xfrm>
            <a:off x="571500" y="1238250"/>
            <a:ext cx="11049000" cy="2850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3"/>
          <p:cNvSpPr txBox="1"/>
          <p:nvPr/>
        </p:nvSpPr>
        <p:spPr>
          <a:xfrm>
            <a:off x="952500" y="2017500"/>
            <a:ext cx="10668000" cy="246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600">
                <a:solidFill>
                  <a:schemeClr val="dk1"/>
                </a:solidFill>
                <a:latin typeface="DM Sans"/>
                <a:ea typeface="DM Sans"/>
                <a:cs typeface="DM Sans"/>
                <a:sym typeface="DM Sans"/>
              </a:rPr>
              <a:t>Small manually-created graph: </a:t>
            </a:r>
            <a:r>
              <a:rPr lang="en-US" sz="1600">
                <a:solidFill>
                  <a:schemeClr val="dk1"/>
                </a:solidFill>
                <a:latin typeface="DM Sans"/>
                <a:ea typeface="DM Sans"/>
                <a:cs typeface="DM Sans"/>
                <a:sym typeface="DM Sans"/>
              </a:rPr>
              <a:t> with limited coverage, missing concepts and relationships </a:t>
            </a:r>
            <a:endParaRPr sz="1500">
              <a:solidFill>
                <a:schemeClr val="dk1"/>
              </a:solidFill>
            </a:endParaRPr>
          </a:p>
        </p:txBody>
      </p:sp>
      <p:sp>
        <p:nvSpPr>
          <p:cNvPr id="258" name="Google Shape;258;p23"/>
          <p:cNvSpPr txBox="1"/>
          <p:nvPr/>
        </p:nvSpPr>
        <p:spPr>
          <a:xfrm>
            <a:off x="762000" y="2356537"/>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500">
              <a:latin typeface="DM Sans"/>
              <a:ea typeface="DM Sans"/>
              <a:cs typeface="DM Sans"/>
              <a:sym typeface="DM Sans"/>
            </a:endParaRPr>
          </a:p>
        </p:txBody>
      </p:sp>
      <p:sp>
        <p:nvSpPr>
          <p:cNvPr id="259" name="Google Shape;259;p23"/>
          <p:cNvSpPr txBox="1"/>
          <p:nvPr/>
        </p:nvSpPr>
        <p:spPr>
          <a:xfrm>
            <a:off x="952500" y="3654887"/>
            <a:ext cx="106680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600">
                <a:solidFill>
                  <a:srgbClr val="334155"/>
                </a:solidFill>
                <a:latin typeface="DM Sans"/>
                <a:ea typeface="DM Sans"/>
                <a:cs typeface="DM Sans"/>
                <a:sym typeface="DM Sans"/>
              </a:rPr>
              <a:t>Subjective evaluation: </a:t>
            </a:r>
            <a:r>
              <a:rPr b="0" i="0" lang="en-US" sz="1600" u="none" cap="none" strike="noStrike">
                <a:solidFill>
                  <a:srgbClr val="334155"/>
                </a:solidFill>
                <a:latin typeface="DM Sans"/>
                <a:ea typeface="DM Sans"/>
                <a:cs typeface="DM Sans"/>
                <a:sym typeface="DM Sans"/>
              </a:rPr>
              <a:t> </a:t>
            </a:r>
            <a:r>
              <a:rPr lang="en-US" sz="1600">
                <a:solidFill>
                  <a:srgbClr val="334155"/>
                </a:solidFill>
                <a:latin typeface="DM Sans"/>
                <a:ea typeface="DM Sans"/>
                <a:cs typeface="DM Sans"/>
                <a:sym typeface="DM Sans"/>
              </a:rPr>
              <a:t>I assessed plausibility and novelty as a computer science student rather than as a neuroscience expert. </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63" name="Shape 263"/>
        <p:cNvGrpSpPr/>
        <p:nvPr/>
      </p:nvGrpSpPr>
      <p:grpSpPr>
        <a:xfrm>
          <a:off x="0" y="0"/>
          <a:ext cx="0" cy="0"/>
          <a:chOff x="0" y="0"/>
          <a:chExt cx="0" cy="0"/>
        </a:xfrm>
      </p:grpSpPr>
      <p:pic>
        <p:nvPicPr>
          <p:cNvPr descr="image.png" id="264" name="Google Shape;264;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5" name="Google Shape;265;p24"/>
          <p:cNvPicPr preferRelativeResize="0"/>
          <p:nvPr/>
        </p:nvPicPr>
        <p:blipFill rotWithShape="1">
          <a:blip r:embed="rId4">
            <a:alphaModFix/>
          </a:blip>
          <a:srcRect b="0" l="0" r="0" t="0"/>
          <a:stretch/>
        </p:blipFill>
        <p:spPr>
          <a:xfrm>
            <a:off x="6381750" y="1524000"/>
            <a:ext cx="5238750" cy="3810000"/>
          </a:xfrm>
          <a:prstGeom prst="rect">
            <a:avLst/>
          </a:prstGeom>
          <a:noFill/>
          <a:ln>
            <a:noFill/>
          </a:ln>
        </p:spPr>
      </p:pic>
      <p:sp>
        <p:nvSpPr>
          <p:cNvPr id="266" name="Google Shape;266;p24"/>
          <p:cNvSpPr txBox="1"/>
          <p:nvPr/>
        </p:nvSpPr>
        <p:spPr>
          <a:xfrm>
            <a:off x="440531" y="1987004"/>
            <a:ext cx="5500800" cy="215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t/>
            </a:r>
            <a:endParaRPr/>
          </a:p>
        </p:txBody>
      </p:sp>
      <p:sp>
        <p:nvSpPr>
          <p:cNvPr id="267" name="Google Shape;267;p24"/>
          <p:cNvSpPr txBox="1"/>
          <p:nvPr/>
        </p:nvSpPr>
        <p:spPr>
          <a:xfrm>
            <a:off x="571500" y="3007965"/>
            <a:ext cx="5238900" cy="32310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1" lang="en-US" sz="2100" u="none" cap="none" strike="noStrike">
                <a:solidFill>
                  <a:srgbClr val="475569"/>
                </a:solidFill>
                <a:latin typeface="DM Sans"/>
                <a:ea typeface="DM Sans"/>
                <a:cs typeface="DM Sans"/>
                <a:sym typeface="DM Sans"/>
              </a:rPr>
              <a:t>Thank you for </a:t>
            </a:r>
            <a:r>
              <a:rPr i="1" lang="en-US" sz="2100">
                <a:solidFill>
                  <a:srgbClr val="475569"/>
                </a:solidFill>
                <a:latin typeface="DM Sans"/>
                <a:ea typeface="DM Sans"/>
                <a:cs typeface="DM Sans"/>
                <a:sym typeface="DM Sans"/>
              </a:rPr>
              <a:t>listening. </a:t>
            </a:r>
            <a:endParaRPr/>
          </a:p>
        </p:txBody>
      </p:sp>
      <p:sp>
        <p:nvSpPr>
          <p:cNvPr id="268" name="Google Shape;268;p24"/>
          <p:cNvSpPr/>
          <p:nvPr/>
        </p:nvSpPr>
        <p:spPr>
          <a:xfrm>
            <a:off x="2714625" y="4128045"/>
            <a:ext cx="952500" cy="57150"/>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4"/>
          <p:cNvSpPr txBox="1"/>
          <p:nvPr/>
        </p:nvSpPr>
        <p:spPr>
          <a:xfrm>
            <a:off x="571500" y="4375695"/>
            <a:ext cx="52389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pic>
        <p:nvPicPr>
          <p:cNvPr descr="image.png" id="270" name="Google Shape;270;p24"/>
          <p:cNvPicPr preferRelativeResize="0"/>
          <p:nvPr/>
        </p:nvPicPr>
        <p:blipFill rotWithShape="1">
          <a:blip r:embed="rId5">
            <a:alphaModFix/>
          </a:blip>
          <a:srcRect b="0" l="0" r="0" t="0"/>
          <a:stretch/>
        </p:blipFill>
        <p:spPr>
          <a:xfrm>
            <a:off x="6457950" y="1600200"/>
            <a:ext cx="5086350" cy="3657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