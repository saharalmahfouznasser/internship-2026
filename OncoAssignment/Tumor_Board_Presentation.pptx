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4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554480"/>
            <a:ext cx="2377440" cy="2377440"/>
          </a:xfrm>
          <a:prstGeom prst="ellipse">
            <a:avLst/>
          </a:prstGeom>
          <a:solidFill>
            <a:srgbClr val="0E74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2743200"/>
            <a:ext cx="2377440" cy="2377440"/>
          </a:xfrm>
          <a:prstGeom prst="ellipse">
            <a:avLst/>
          </a:prstGeom>
          <a:solidFill>
            <a:srgbClr val="B4530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7325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ONCOLOGIST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10412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PATHOLOGIST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CLINICAL REASONING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Tumor Board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specialized agents, one treatment plan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two-agent system that discusses real, published cancer cases on open-source LLMs — and reasons toward a joint treatment plan.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41248" y="5715000"/>
            <a:ext cx="42062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</a:t>
            </a:r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board — and which cases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120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4008" cy="4663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rgbClr val="E6F2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95955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8366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case, two lenses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cancer decisions are never made alone.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tumor board puts an oncologist, a pathologist, and others on the same case — each reading it differently. The plan emerges from structured disagreement, then synthesis.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370332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replicates that with two agents.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Oncologist reasons about staging, treatment, and prognosis. The Pathologist reads what the tissue actually shows.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4892040"/>
            <a:ext cx="4709160" cy="1051560"/>
          </a:xfrm>
          <a:prstGeom prst="rect">
            <a:avLst/>
          </a:prstGeom>
          <a:solidFill>
            <a:srgbClr val="E6F2F5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498348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 </a:t>
            </a:r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must be able to say something the other cannot. That asymmetry is the whole point.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89320" y="1600200"/>
            <a:ext cx="566928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89320" y="1600200"/>
            <a:ext cx="64008" cy="46634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Shape 12"/>
          <p:cNvSpPr/>
          <p:nvPr/>
        </p:nvSpPr>
        <p:spPr>
          <a:xfrm>
            <a:off x="6263640" y="1828800"/>
            <a:ext cx="502920" cy="502920"/>
          </a:xfrm>
          <a:prstGeom prst="ellipse">
            <a:avLst/>
          </a:prstGeom>
          <a:solidFill>
            <a:srgbClr val="FAEED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399" y="1959559"/>
            <a:ext cx="241402" cy="24140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03720" y="18836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cases come from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309360" y="2514600"/>
            <a:ext cx="5074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cases drawn from real, peer-reviewed teaching series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(Academic Pathology PCME; Cancer Imaging tumor-board series, via PMC). Anonymized and realistic — no real-patient data, nothing invented. Each was chosen to stress a different part of the system.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309360" y="3520440"/>
            <a:ext cx="5074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19088" y="3721608"/>
            <a:ext cx="438912" cy="438912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1" name="Text 17"/>
          <p:cNvSpPr/>
          <p:nvPr/>
        </p:nvSpPr>
        <p:spPr>
          <a:xfrm>
            <a:off x="6419088" y="3721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995160" y="359359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HER2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Equivocal IHC resolved by FISH — handling an ambiguous biomarker correctly.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6309360" y="4434840"/>
            <a:ext cx="5074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419088" y="4636008"/>
            <a:ext cx="438912" cy="438912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1"/>
          <p:cNvSpPr/>
          <p:nvPr/>
        </p:nvSpPr>
        <p:spPr>
          <a:xfrm>
            <a:off x="6419088" y="4636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995160" y="450799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NSCLC EGFR L858R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driver mutation that should redirect first-line therapy — domain knowledge + auditability.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6309360" y="5349240"/>
            <a:ext cx="5074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19088" y="5550408"/>
            <a:ext cx="438912" cy="438912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29" name="Text 25"/>
          <p:cNvSpPr/>
          <p:nvPr/>
        </p:nvSpPr>
        <p:spPr>
          <a:xfrm>
            <a:off x="6419088" y="5550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995160" y="542239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SCLC + NSCLC
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rewrites the whole plan. Imaging is shown to the oncologist only — cross-modality.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structured, isolation-aware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" cy="10058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91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two roles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002536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Oncologist on Qwen3-VL (vision-capable); Pathologist on DeepSeek-V3.2. Orchestrated as a LangGraph state machine.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52928"/>
            <a:ext cx="64008" cy="10058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852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5-round protocol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3163824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free chat. A mandatory clarifying question and a revision force the agents to engage and converge.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014216"/>
            <a:ext cx="64008" cy="10058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4014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49808" y="4325112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steps run in parallel and never see each other. Independence makes agreement meaningful and divergence visible.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175504"/>
            <a:ext cx="64008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51755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+ audited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548640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Case-fidelity rules: use only what's in the packet — “not reported” ≠ “absent.” A Board Chair validates both summaries against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1417320"/>
            <a:ext cx="676656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1417320"/>
            <a:ext cx="6766560" cy="54864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18" name="Image 0" descr="langgraph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1582" y="1673352"/>
            <a:ext cx="3447476" cy="43434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892040" y="60624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LangGraph · 9 nodes, rendered from the graph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in focus: a cross-modality showcase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3609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3703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572768"/>
            <a:ext cx="411480" cy="41148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727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1554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Synchronous SCLC + NSCLC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011680"/>
            <a:ext cx="6812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Recap.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74-year-old, 60 pack-year smoker. CT/PET shows two right-upper-lobe lesions — a slow-growing 2.6 cm peripheral nodule (present 3 years) and a new 4 cm perihilar mass, both FDG-avid. Separate biopsies: perihilar = small-cell (SCLC); peripheral = adenosquamous (NSCLC).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2852928"/>
            <a:ext cx="6812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question.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cancer that spread, or two separate primaries? It decides everything — extensive-stage SCLC (palliative chemo) vs. limited SCLC + early NSCLC (potentially curable).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611880"/>
            <a:ext cx="6812280" cy="457200"/>
          </a:xfrm>
          <a:prstGeom prst="rect">
            <a:avLst/>
          </a:prstGeom>
          <a:solidFill>
            <a:srgbClr val="E6F2F5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611880"/>
            <a:ext cx="4572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11880"/>
            <a:ext cx="6583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Oncologist  </a:t>
            </a:r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aggressive SCLC first with chemoradiation, then resect the slower-growing NSCLC once it responds.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4096512"/>
            <a:ext cx="6812280" cy="457200"/>
          </a:xfrm>
          <a:prstGeom prst="rect">
            <a:avLst/>
          </a:prstGeom>
          <a:solidFill>
            <a:srgbClr val="FAEEDF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096512"/>
            <a:ext cx="4572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96512"/>
            <a:ext cx="6583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Pathologist  </a:t>
            </a:r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histologically distinct primaries confirmed; molecular/PD-L1 on the NSCLC still missing — conserve core-biopsy tissue and get it first.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68680" y="4581144"/>
            <a:ext cx="6812280" cy="457200"/>
          </a:xfrm>
          <a:prstGeom prst="rect">
            <a:avLst/>
          </a:prstGeom>
          <a:solidFill>
            <a:srgbClr val="E6F2F5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581144"/>
            <a:ext cx="4572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581144"/>
            <a:ext cx="65836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· Board Chair  </a:t>
            </a:r>
            <a:pPr indent="0" marL="0">
              <a:lnSpc>
                <a:spcPct val="9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concurs with treating SCLC first, but flags the oncologist’s invented N0–1 / Stage IIA–IIIB staging as speculative — nodal status is “not reported.”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371600"/>
            <a:ext cx="36118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1371600"/>
            <a:ext cx="64008" cy="3703320"/>
          </a:xfrm>
          <a:prstGeom prst="rect">
            <a:avLst/>
          </a:prstGeom>
          <a:solidFill>
            <a:srgbClr val="0E7490"/>
          </a:solidFill>
          <a:ln/>
        </p:spPr>
      </p:sp>
      <p:pic>
        <p:nvPicPr>
          <p:cNvPr id="22" name="Image 0" descr="pet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572768"/>
            <a:ext cx="1673352" cy="22402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183880" y="38770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/ PET — two FDG-avid lesions (arrows)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211312" y="4160520"/>
            <a:ext cx="33101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Cross-modality by design.  </a:t>
            </a:r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oncologist (Qwen-VL) reads the scan directly; the pathologist works from text only.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5138928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" y="5138928"/>
            <a:ext cx="64008" cy="10972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7" name="Shape 24"/>
          <p:cNvSpPr/>
          <p:nvPr/>
        </p:nvSpPr>
        <p:spPr>
          <a:xfrm>
            <a:off x="749808" y="5303520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61872" y="5266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Breast HER2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617720" y="5285232"/>
            <a:ext cx="1207008" cy="274320"/>
          </a:xfrm>
          <a:prstGeom prst="roundRect">
            <a:avLst>
              <a:gd name="adj" fmla="val 16667"/>
            </a:avLst>
          </a:prstGeom>
          <a:solidFill>
            <a:srgbClr val="0E7490"/>
          </a:solidFill>
          <a:ln/>
        </p:spPr>
      </p:sp>
      <p:sp>
        <p:nvSpPr>
          <p:cNvPr id="31" name="Text 28"/>
          <p:cNvSpPr/>
          <p:nvPr/>
        </p:nvSpPr>
        <p:spPr>
          <a:xfrm>
            <a:off x="4617720" y="52852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261872" y="5596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IHC 2+ (equivocal) → reflex FISH (ratio 3.7) → HER2-positive, ER/PR-negative. </a:t>
            </a:r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resolved the chain and avoided the triple-negative trap.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17920" y="5138928"/>
            <a:ext cx="5440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217920" y="5138928"/>
            <a:ext cx="64008" cy="10972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5" name="Shape 32"/>
          <p:cNvSpPr/>
          <p:nvPr/>
        </p:nvSpPr>
        <p:spPr>
          <a:xfrm>
            <a:off x="6419088" y="5303520"/>
            <a:ext cx="384048" cy="38404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6" name="Text 33"/>
          <p:cNvSpPr/>
          <p:nvPr/>
        </p:nvSpPr>
        <p:spPr>
          <a:xfrm>
            <a:off x="6419088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931152" y="52669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NSCLC EGFR L858R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10287000" y="5285232"/>
            <a:ext cx="1207008" cy="27432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39" name="Text 36"/>
          <p:cNvSpPr/>
          <p:nvPr/>
        </p:nvSpPr>
        <p:spPr>
          <a:xfrm>
            <a:off x="10287000" y="5285232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931152" y="55961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EGFR L858R → osimertinib is first-line; the oncologist wrongly gated it behind a PD-L1 ≥50% rule. </a:t>
            </a:r>
            <a:pPr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Chair caught that, then slipped itself — fabricating a fake “N3b” sub-stage. Visible only because every turn is logged.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548640" y="6336792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algn="l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B and C reflect the latest run (2026-06-11). The system is non-deterministic — exact staging slips and position changes vary run to run; earlier runs showed different but analogous behavior.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model choice: modality and grounding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model choice matter?  </a:t>
            </a:r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the axes that matter are modality fit and grounded knowledge, not which model is “smarter.” Qwen and DeepSeek gave near-identical clinical content, differing mainly in voice — Qwen patient-facing, DeepSeek neutral and report-like.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64008" cy="32004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E6F2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428646"/>
            <a:ext cx="263347" cy="26334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3591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Cross-modality availability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017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oncologist must read imaging — that requires a vision-capable model.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Qwen3-VL can see the CT/PET; a text-only model literally cannot. Role assignment is constrained by modality first.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68680" y="4434840"/>
            <a:ext cx="4937760" cy="658368"/>
          </a:xfrm>
          <a:prstGeom prst="rect">
            <a:avLst/>
          </a:prstGeom>
          <a:solidFill>
            <a:srgbClr val="E6F2F5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44348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must route each input to a model that can actually consume it.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2057400"/>
            <a:ext cx="54864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72200" y="2057400"/>
            <a:ext cx="64008" cy="32004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Shape 12"/>
          <p:cNvSpPr/>
          <p:nvPr/>
        </p:nvSpPr>
        <p:spPr>
          <a:xfrm>
            <a:off x="6446520" y="2286000"/>
            <a:ext cx="548640" cy="548640"/>
          </a:xfrm>
          <a:prstGeom prst="ellipse">
            <a:avLst/>
          </a:prstGeom>
          <a:solidFill>
            <a:srgbClr val="FAEED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6" y="2428646"/>
            <a:ext cx="263347" cy="26334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235915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 knowledge = training data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492240" y="30175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fabricated “N3b” sub-stage wasn’t bad reasoning — it’s encoded clinical fact being wrong.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shape behavior and persona; they can't install correct facts.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492240" y="4434840"/>
            <a:ext cx="4937760" cy="658368"/>
          </a:xfrm>
          <a:prstGeom prst="rect">
            <a:avLst/>
          </a:prstGeom>
          <a:solidFill>
            <a:srgbClr val="FAEEDF"/>
          </a:solidFill>
          <a:ln/>
        </p:spPr>
      </p:sp>
      <p:sp>
        <p:nvSpPr>
          <p:cNvPr id="20" name="Text 16"/>
          <p:cNvSpPr/>
          <p:nvPr/>
        </p:nvSpPr>
        <p:spPr>
          <a:xfrm>
            <a:off x="6647688" y="443484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fixes: fine-tuning and a knowledge base (RAG) that puts the staging table in front of the model — with a citation.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5486400"/>
            <a:ext cx="11109960" cy="7772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Shape 18"/>
          <p:cNvSpPr/>
          <p:nvPr/>
        </p:nvSpPr>
        <p:spPr>
          <a:xfrm>
            <a:off x="777240" y="5650992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76986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417320" y="54864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takeaway.  </a:t>
            </a:r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models for modality fit, ground them in real clinical references, and log every turn — so the errors that remain are visible and fixable, not silent.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 · 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talking agents to grounded 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isn't getting agents to talk. It's controlling what each one knows — and proving the output is grounded.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57400"/>
            <a:ext cx="64008" cy="42062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286000"/>
            <a:ext cx="502920" cy="502920"/>
          </a:xfrm>
          <a:prstGeom prst="ellipse">
            <a:avLst/>
          </a:prstGeom>
          <a:solidFill>
            <a:srgbClr val="E6F2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4167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3017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&amp; persona prompting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3375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reasons from a genuine, non-overlapping lens — not a chatbot in a costume.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isolation by structure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70916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 prevents one agent's hallucination from becoming the other's “fact.” Context is cognition; the graph is the access policy.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2057400"/>
            <a:ext cx="54864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72200" y="2057400"/>
            <a:ext cx="64008" cy="4206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Shape 13"/>
          <p:cNvSpPr/>
          <p:nvPr/>
        </p:nvSpPr>
        <p:spPr>
          <a:xfrm>
            <a:off x="6446520" y="2286000"/>
            <a:ext cx="502920" cy="502920"/>
          </a:xfrm>
          <a:prstGeom prst="ellipse">
            <a:avLst/>
          </a:prstGeom>
          <a:solidFill>
            <a:srgbClr val="FAEED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79" y="241675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08660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492240" y="29718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grounding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492240" y="3264408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AJCC / NCCN / WHO plus targeted fine-tuning — fix facts at the source, auditable by citation.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92240" y="40507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Post-validation as its own step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6492240" y="43434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checking node instead of “don't say X” rules that bias the output (the pink-elephant problem).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92240" y="51297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structured output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492240" y="5422392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fields — stage, biomarker, regimen — always parseable, so they're always checkable.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371600"/>
            <a:ext cx="2377440" cy="2377440"/>
          </a:xfrm>
          <a:prstGeom prst="ellipse">
            <a:avLst/>
          </a:prstGeom>
          <a:solidFill>
            <a:srgbClr val="0E74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2560320"/>
            <a:ext cx="2377440" cy="2377440"/>
          </a:xfrm>
          <a:prstGeom prst="ellipse">
            <a:avLst/>
          </a:prstGeom>
          <a:solidFill>
            <a:srgbClr val="B45309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23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walkthrough of the system in action.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Woody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 Tumor Board · June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Tumor Board</dc:title>
  <dc:subject>PptxGenJS Presentation</dc:subject>
  <dc:creator>Woody</dc:creator>
  <cp:lastModifiedBy>Woody</cp:lastModifiedBy>
  <cp:revision>1</cp:revision>
  <dcterms:created xsi:type="dcterms:W3CDTF">2026-06-10T23:51:18Z</dcterms:created>
  <dcterms:modified xsi:type="dcterms:W3CDTF">2026-06-10T23:51:18Z</dcterms:modified>
</cp:coreProperties>
</file>